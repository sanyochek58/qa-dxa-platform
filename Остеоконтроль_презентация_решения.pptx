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2" r:id="rId2"/>
    <p:sldId id="263" r:id="rId3"/>
    <p:sldId id="264" r:id="rId4"/>
    <p:sldId id="265" r:id="rId5"/>
    <p:sldId id="266" r:id="rId6"/>
    <p:sldId id="271" r:id="rId7"/>
    <p:sldId id="279" r:id="rId8"/>
    <p:sldId id="273" r:id="rId9"/>
    <p:sldId id="272" r:id="rId10"/>
    <p:sldId id="293" r:id="rId11"/>
    <p:sldId id="275" r:id="rId12"/>
    <p:sldId id="280" r:id="rId13"/>
    <p:sldId id="268" r:id="rId14"/>
    <p:sldId id="276" r:id="rId15"/>
    <p:sldId id="267" r:id="rId16"/>
    <p:sldId id="294" r:id="rId17"/>
    <p:sldId id="270" r:id="rId18"/>
    <p:sldId id="282" r:id="rId19"/>
    <p:sldId id="284" r:id="rId20"/>
    <p:sldId id="296" r:id="rId21"/>
    <p:sldId id="295" r:id="rId22"/>
    <p:sldId id="297" r:id="rId23"/>
    <p:sldId id="269" r:id="rId24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6"/>
  </p:normalViewPr>
  <p:slideViewPr>
    <p:cSldViewPr snapToGrid="0" showGuides="1">
      <p:cViewPr varScale="1">
        <p:scale>
          <a:sx n="95" d="100"/>
          <a:sy n="95" d="100"/>
        </p:scale>
        <p:origin x="200" y="888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7999999999998E-2"/>
          <c:y val="0.12693499999999999"/>
          <c:w val="0.92608599999999996"/>
          <c:h val="0.667471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Укладка</c:v>
                </c:pt>
                <c:pt idx="1">
                  <c:v>Ось</c:v>
                </c:pt>
                <c:pt idx="2">
                  <c:v>Артефакты</c:v>
                </c:pt>
                <c:pt idx="3">
                  <c:v>Позв. итог</c:v>
                </c:pt>
                <c:pt idx="4">
                  <c:v>Ротация</c:v>
                </c:pt>
                <c:pt idx="5">
                  <c:v>ROI бедра</c:v>
                </c:pt>
                <c:pt idx="6">
                  <c:v>Бедро итог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0.84599999999999997</c:v>
                </c:pt>
                <c:pt idx="1">
                  <c:v>0.83</c:v>
                </c:pt>
                <c:pt idx="2">
                  <c:v>0.84099999999999997</c:v>
                </c:pt>
                <c:pt idx="3">
                  <c:v>0.78500000000000003</c:v>
                </c:pt>
                <c:pt idx="4">
                  <c:v>0.67</c:v>
                </c:pt>
                <c:pt idx="5">
                  <c:v>0.83399999999999996</c:v>
                </c:pt>
                <c:pt idx="6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D4-6645-A7EA-54B272360E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prstGeom prst="rect">
              <a:avLst/>
            </a:prstGeom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Укладка</c:v>
                </c:pt>
                <c:pt idx="1">
                  <c:v>Ось</c:v>
                </c:pt>
                <c:pt idx="2">
                  <c:v>Артефакты</c:v>
                </c:pt>
                <c:pt idx="3">
                  <c:v>Позв. итог</c:v>
                </c:pt>
                <c:pt idx="4">
                  <c:v>Ротация</c:v>
                </c:pt>
                <c:pt idx="5">
                  <c:v>ROI бедра</c:v>
                </c:pt>
                <c:pt idx="6">
                  <c:v>Бедро итог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0.57099999999999995</c:v>
                </c:pt>
                <c:pt idx="1">
                  <c:v>0.42899999999999999</c:v>
                </c:pt>
                <c:pt idx="2">
                  <c:v>0.68799999999999994</c:v>
                </c:pt>
                <c:pt idx="3">
                  <c:v>0.64300000000000002</c:v>
                </c:pt>
                <c:pt idx="4">
                  <c:v>0.49399999999999999</c:v>
                </c:pt>
                <c:pt idx="5">
                  <c:v>0.46200000000000002</c:v>
                </c:pt>
                <c:pt idx="6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D4-6645-A7EA-54B272360E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baseline="0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"/>
          <c:min val="0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prstGeom prst="rect">
          <a:avLst/>
        </a:prstGeom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1E-2"/>
          <c:y val="0.93820099999999995"/>
          <c:w val="0.94740100000000005"/>
          <c:h val="6.1799E-2"/>
        </c:manualLayout>
      </c:layout>
      <c:overlay val="0"/>
      <c:spPr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 bwMode="auto">
    <a:xfrm>
      <a:off x="346075" y="1424510"/>
      <a:ext cx="5749925" cy="4401748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058215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84720441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34082310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370755176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1636833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27406676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95F80-D618-DC47-9747-CC828D779F09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BFECDA-1047-48DB-D7AD-B489C9116F3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59849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4430032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84482279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345053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0835953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56810009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5957D-2A97-9417-4115-7309419E4497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6B071C-9D20-7628-DB17-B3287BA8C52A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C90A1B-9628-DE44-0BB7-06DCCE766109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2F30FF-E5A5-B8D4-411F-C9581EC7CF41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562E1D-3BC2-A5E9-07A2-9A1F898C750F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1A177E-2ABC-2FC4-EBAF-E2DF0D56913F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98E165-9C0E-986B-99DC-949FF7F34E2E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0D55FD-5C61-A310-0595-DE0144CEA97E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716A5B-5C6F-ADAD-85A2-FF889F4ECEF0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152304-983B-4DE5-A603-2630A62E3CC0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BD680D-AF79-D4BD-09F6-933812729FE9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B36994-EB53-8E9E-8B5E-1D0D390D3D11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C8FF8C-8112-4DDF-52B6-27D6FAE0CFB6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179850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79040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19319627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23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449851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107248279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517802752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981208299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601608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8782254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9688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75490344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681501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49931217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246324650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473701096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797613168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488619913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223954995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4371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4726929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1256342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53147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6002286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23409656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191058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82513107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684326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2406639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3513093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7217147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340836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03916579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771760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8807555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80503202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88467262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3203742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378349539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898763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571395732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434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7242610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676307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35902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84274246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1683109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9238135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66500678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42573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954494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605253381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9914551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5615767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29372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25988503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675975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22791995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125370838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809158378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351413926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805559607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91134069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646448181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310724924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05651340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03558449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0425954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532630122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12974356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17246133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1134257423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313319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840149421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136120490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583109070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3643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85431452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965829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70261210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8915444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45095446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8028601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15385690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74754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03502758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5562177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99070661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283689302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60912818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41614259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08001543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85976834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04781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80577974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8422053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64741522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655024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72718556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56670992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7250202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26392212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23352615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30577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38640845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2127022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40869985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7411538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3158360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489925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8814110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96751945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67005389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92059452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9927835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70682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121240326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5935297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743725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491301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23269189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6120221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1263352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7416224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47206572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4357391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8727238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40228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92283050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7656151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01006494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364257640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219674228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905594416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870329451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246326691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160128775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73771391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2075206681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273436653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52611414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35962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8363396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9974995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3072237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575990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418392333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25820126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756570170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445209771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887743234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308767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108317652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1288371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0737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14295661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5482909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39886052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24549515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06580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20253656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0285049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77643970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30444129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4615357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97543299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1760909023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79651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8381380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83592056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4225344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44385490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3534442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2479063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44268610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2725888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706622486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984830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339481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7734558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0209713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56583733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788949331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45700913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82656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01759800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78037382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9204934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36694441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85630878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913473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0505371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3979262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554609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53633421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3996465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82188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55753347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9709870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4501003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6271854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999919" name="Заголовок 2"/>
          <p:cNvSpPr>
            <a:spLocks noGrp="1"/>
          </p:cNvSpPr>
          <p:nvPr>
            <p:ph type="ctrTitle"/>
          </p:nvPr>
        </p:nvSpPr>
        <p:spPr bwMode="auto">
          <a:xfrm>
            <a:off x="94130" y="3324418"/>
            <a:ext cx="5734317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400" dirty="0"/>
              <a:t>ЗАМЕРЩИКИ ДВЕРЕЙ</a:t>
            </a:r>
          </a:p>
        </p:txBody>
      </p:sp>
      <p:pic>
        <p:nvPicPr>
          <p:cNvPr id="957416228" name="Рисунок 3" descr="image9.png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>
            <a:fillRect/>
          </a:stretch>
        </p:blipFill>
        <p:spPr>
          <a:xfrm>
            <a:off x="247575" y="605973"/>
            <a:ext cx="2888347" cy="755467"/>
          </a:xfrm>
        </p:spPr>
      </p:pic>
      <p:sp>
        <p:nvSpPr>
          <p:cNvPr id="259776061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4652574"/>
            <a:ext cx="8332165" cy="757174"/>
          </a:xfrm>
        </p:spPr>
        <p:txBody>
          <a:bodyPr anchor="ctr"/>
          <a:lstStyle/>
          <a:p>
            <a:pPr marL="342900" indent="0">
              <a:defRPr/>
            </a:pPr>
            <a:r>
              <a:rPr lang="ru-RU" dirty="0"/>
              <a:t>Сервис искусственного интеллекта по оценке качества исследований плотности костей человека</a:t>
            </a:r>
          </a:p>
        </p:txBody>
      </p:sp>
      <p:sp>
        <p:nvSpPr>
          <p:cNvPr id="163296127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17AC9C-1AB2-5E4C-23B6-31562EB5658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-184" t="9544" r="184" b="23055"/>
          <a:stretch/>
        </p:blipFill>
        <p:spPr>
          <a:xfrm>
            <a:off x="0" y="0"/>
            <a:ext cx="6456363" cy="3306763"/>
          </a:xfrm>
          <a:prstGeom prst="rect">
            <a:avLst/>
          </a:prstGeom>
        </p:spPr>
      </p:pic>
      <p:sp>
        <p:nvSpPr>
          <p:cNvPr id="1962639562" name="Прямоугольник 2"/>
          <p:cNvSpPr/>
          <p:nvPr/>
        </p:nvSpPr>
        <p:spPr bwMode="auto">
          <a:xfrm>
            <a:off x="0" y="3333750"/>
            <a:ext cx="6456363" cy="28575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779386197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  <a:endParaRPr dirty="0"/>
          </a:p>
        </p:txBody>
      </p:sp>
      <p:sp>
        <p:nvSpPr>
          <p:cNvPr id="2057246564" name="Текст 8"/>
          <p:cNvSpPr txBox="1"/>
          <p:nvPr/>
        </p:nvSpPr>
        <p:spPr bwMode="auto">
          <a:xfrm>
            <a:off x="6836606" y="4876070"/>
            <a:ext cx="4945565" cy="12039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  <a:latin typeface="Montserrat"/>
              </a:rPr>
              <a:t>Объяснимость вместо «чёрного ящика»: модели опираются на измеримые признаки, соответствующие критериям ТЗ (угол оси, посторонние объекты), и показывают их прямо на снимке. Проверка — в момент сканирования, пока пациент ещё в кабинете.</a:t>
            </a:r>
          </a:p>
        </p:txBody>
      </p:sp>
      <p:sp>
        <p:nvSpPr>
          <p:cNvPr id="87886095" name="Текст 8"/>
          <p:cNvSpPr txBox="1"/>
          <p:nvPr/>
        </p:nvSpPr>
        <p:spPr bwMode="auto">
          <a:xfrm>
            <a:off x="219374" y="3886200"/>
            <a:ext cx="5629858" cy="25717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 err="1">
                <a:solidFill>
                  <a:schemeClr val="tx1"/>
                </a:solidFill>
              </a:rPr>
              <a:t>Нурпиисов</a:t>
            </a:r>
            <a:r>
              <a:rPr lang="ru-RU" dirty="0">
                <a:solidFill>
                  <a:schemeClr val="tx1"/>
                </a:solidFill>
              </a:rPr>
              <a:t> Никита Игоревич, </a:t>
            </a:r>
            <a:r>
              <a:rPr lang="en-US" dirty="0">
                <a:solidFill>
                  <a:schemeClr val="tx1"/>
                </a:solidFill>
              </a:rPr>
              <a:t>CV-</a:t>
            </a:r>
            <a:r>
              <a:rPr lang="ru-RU" dirty="0">
                <a:solidFill>
                  <a:schemeClr val="tx1"/>
                </a:solidFill>
              </a:rPr>
              <a:t>инженер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3 человека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dirty="0">
                <a:solidFill>
                  <a:schemeClr val="tx1"/>
                </a:solidFill>
              </a:rPr>
              <a:t>Команда друзей-студентов, объединенных любовью к компьютерному зрению</a:t>
            </a:r>
            <a:endParaRPr lang="ru-RU"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dirty="0">
                <a:solidFill>
                  <a:schemeClr val="tx1"/>
                </a:solidFill>
              </a:rPr>
              <a:t>Студенты 4-го курса РТУ МИРЭА направления «Программная инженерия»</a:t>
            </a:r>
            <a:endParaRPr lang="ru-RU"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  <a:r>
              <a:rPr lang="ru-RU" b="0" dirty="0">
                <a:solidFill>
                  <a:srgbClr val="1C1D22"/>
                </a:solidFill>
              </a:rPr>
              <a:t> Москва, Россия</a:t>
            </a:r>
            <a:endParaRPr lang="ru-RU" dirty="0"/>
          </a:p>
        </p:txBody>
      </p:sp>
      <p:sp>
        <p:nvSpPr>
          <p:cNvPr id="1273274789" name="Текст 8"/>
          <p:cNvSpPr txBox="1"/>
          <p:nvPr/>
        </p:nvSpPr>
        <p:spPr bwMode="auto">
          <a:xfrm>
            <a:off x="219374" y="3429000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  <a:latin typeface="+mj-lt"/>
              </a:rPr>
              <a:t>О команде</a:t>
            </a:r>
            <a:endParaRPr dirty="0">
              <a:latin typeface="+mj-lt"/>
            </a:endParaRPr>
          </a:p>
        </p:txBody>
      </p:sp>
      <p:sp>
        <p:nvSpPr>
          <p:cNvPr id="57298878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4273921" cy="10151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520978"/>
                </a:solidFill>
              </a:rPr>
              <a:t>КОМАНДА «Замерщики дверей»</a:t>
            </a:r>
          </a:p>
        </p:txBody>
      </p:sp>
      <p:cxnSp>
        <p:nvCxnSpPr>
          <p:cNvPr id="512930915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18927810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0243215" name="Прямая соединительная линия 16"/>
          <p:cNvCxnSpPr/>
          <p:nvPr/>
        </p:nvCxnSpPr>
        <p:spPr bwMode="auto">
          <a:xfrm>
            <a:off x="280245" y="3695700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88060851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  <a:endParaRPr dirty="0"/>
          </a:p>
        </p:txBody>
      </p:sp>
      <p:sp>
        <p:nvSpPr>
          <p:cNvPr id="704503912" name="Текст 8"/>
          <p:cNvSpPr txBox="1"/>
          <p:nvPr/>
        </p:nvSpPr>
        <p:spPr bwMode="auto">
          <a:xfrm>
            <a:off x="6808027" y="2619903"/>
            <a:ext cx="4945565" cy="126227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Веб-сервис и API проверяют DICOM-исследование денситометрии за секунды: определяют область, находят нарушения укладки, оси, артефакты, ротацию и ошибки области интересов, подсказывают, как исправить, и отправляют сомнительные случаи врачу.</a:t>
            </a:r>
          </a:p>
        </p:txBody>
      </p:sp>
      <p:sp>
        <p:nvSpPr>
          <p:cNvPr id="1169590943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409096" name="Скругленный прямоугольник 55"/>
          <p:cNvSpPr/>
          <p:nvPr/>
        </p:nvSpPr>
        <p:spPr bwMode="auto">
          <a:xfrm>
            <a:off x="495644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26022736" name="Текст 8"/>
          <p:cNvSpPr txBox="1"/>
          <p:nvPr/>
        </p:nvSpPr>
        <p:spPr bwMode="auto">
          <a:xfrm>
            <a:off x="512872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/>
            </a:pPr>
            <a:r>
              <a:rPr lang="en-US" dirty="0" err="1">
                <a:solidFill>
                  <a:schemeClr val="tx1"/>
                </a:solidFill>
              </a:rPr>
              <a:t>BackEnd</a:t>
            </a:r>
            <a:r>
              <a:rPr lang="en-US" dirty="0">
                <a:solidFill>
                  <a:schemeClr val="tx1"/>
                </a:solidFill>
              </a:rPr>
              <a:t>, CV-</a:t>
            </a:r>
            <a:r>
              <a:rPr lang="ru-RU" dirty="0">
                <a:solidFill>
                  <a:schemeClr val="tx1"/>
                </a:solidFill>
              </a:rPr>
              <a:t>инженер</a:t>
            </a:r>
            <a:endParaRPr dirty="0"/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@</a:t>
            </a:r>
            <a:r>
              <a:rPr lang="en-US" dirty="0" err="1">
                <a:solidFill>
                  <a:schemeClr val="tx1"/>
                </a:solidFill>
              </a:rPr>
              <a:t>smurphi</a:t>
            </a:r>
            <a:endParaRPr dirty="0"/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8 (937) 440-33-25</a:t>
            </a:r>
            <a:endParaRPr dirty="0"/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dirty="0">
                <a:solidFill>
                  <a:schemeClr val="tx1"/>
                </a:solidFill>
              </a:rPr>
              <a:t>Студент РТУ МИРЭА </a:t>
            </a:r>
          </a:p>
        </p:txBody>
      </p:sp>
      <p:sp>
        <p:nvSpPr>
          <p:cNvPr id="1562261249" name="Текст 8"/>
          <p:cNvSpPr txBox="1"/>
          <p:nvPr/>
        </p:nvSpPr>
        <p:spPr bwMode="auto">
          <a:xfrm>
            <a:off x="512872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  <a:latin typeface="Montserrat"/>
              </a:rPr>
              <a:t>Александр </a:t>
            </a:r>
            <a:r>
              <a:rPr lang="ru-RU" sz="1600" b="1" dirty="0" err="1">
                <a:solidFill>
                  <a:schemeClr val="accent5"/>
                </a:solidFill>
                <a:latin typeface="Montserrat"/>
              </a:rPr>
              <a:t>Бураев</a:t>
            </a:r>
            <a:endParaRPr dirty="0"/>
          </a:p>
        </p:txBody>
      </p:sp>
      <p:sp>
        <p:nvSpPr>
          <p:cNvPr id="2139798191" name="Скругленный прямоугольник 58"/>
          <p:cNvSpPr/>
          <p:nvPr/>
        </p:nvSpPr>
        <p:spPr bwMode="auto">
          <a:xfrm>
            <a:off x="726176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49672804" name="Текст 8"/>
          <p:cNvSpPr txBox="1"/>
          <p:nvPr/>
        </p:nvSpPr>
        <p:spPr bwMode="auto">
          <a:xfrm>
            <a:off x="743404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/>
            </a:pPr>
            <a:r>
              <a:rPr lang="en-US" dirty="0" err="1">
                <a:solidFill>
                  <a:schemeClr val="tx1"/>
                </a:solidFill>
              </a:rPr>
              <a:t>FrontEnd</a:t>
            </a:r>
            <a:r>
              <a:rPr lang="en-US" dirty="0">
                <a:solidFill>
                  <a:schemeClr val="tx1"/>
                </a:solidFill>
              </a:rPr>
              <a:t>, UI/UX-</a:t>
            </a:r>
            <a:r>
              <a:rPr lang="ru-RU" dirty="0">
                <a:solidFill>
                  <a:schemeClr val="tx1"/>
                </a:solidFill>
              </a:rPr>
              <a:t>дизайнер</a:t>
            </a:r>
            <a:endParaRPr dirty="0"/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@</a:t>
            </a:r>
            <a:r>
              <a:rPr lang="en-US" dirty="0" err="1">
                <a:solidFill>
                  <a:schemeClr val="tx1"/>
                </a:solidFill>
              </a:rPr>
              <a:t>yoyuqqw</a:t>
            </a:r>
            <a:endParaRPr dirty="0"/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8 (966) 073-19-81</a:t>
            </a:r>
            <a:endParaRPr dirty="0"/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dirty="0">
                <a:solidFill>
                  <a:schemeClr val="tx1"/>
                </a:solidFill>
              </a:rPr>
              <a:t>Студентка РТУ МИРЭА</a:t>
            </a:r>
          </a:p>
        </p:txBody>
      </p:sp>
      <p:sp>
        <p:nvSpPr>
          <p:cNvPr id="806210259" name="Текст 8"/>
          <p:cNvSpPr txBox="1"/>
          <p:nvPr/>
        </p:nvSpPr>
        <p:spPr bwMode="auto">
          <a:xfrm>
            <a:off x="743404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  <a:latin typeface="Montserrat"/>
              </a:rPr>
              <a:t>Дарья Виноградова</a:t>
            </a:r>
            <a:endParaRPr dirty="0"/>
          </a:p>
        </p:txBody>
      </p:sp>
      <p:sp>
        <p:nvSpPr>
          <p:cNvPr id="1541402587" name="Скругленный прямоугольник 16"/>
          <p:cNvSpPr/>
          <p:nvPr/>
        </p:nvSpPr>
        <p:spPr bwMode="auto">
          <a:xfrm>
            <a:off x="265112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30631603" name="Скругленный прямоугольник 12"/>
          <p:cNvSpPr/>
          <p:nvPr/>
        </p:nvSpPr>
        <p:spPr bwMode="auto">
          <a:xfrm>
            <a:off x="346075" y="324562"/>
            <a:ext cx="4782652" cy="74295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310793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7" name="Рисунок 6" descr="Изображение выглядит как Человеческое лицо, человек, бровь, Лоб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0945EFE-D931-BD31-A181-1E316DCEED8B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258" t="9501" r="-7672" b="9202"/>
          <a:stretch/>
        </p:blipFill>
        <p:spPr bwMode="auto">
          <a:xfrm>
            <a:off x="2886074" y="1816099"/>
            <a:ext cx="1782935" cy="1624612"/>
          </a:xfrm>
        </p:spPr>
      </p:pic>
      <p:pic>
        <p:nvPicPr>
          <p:cNvPr id="5" name="Рисунок 4" descr="Изображение выглядит как Человеческое лицо, человек, Подбородок, ше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41D73A0-DDA5-3CA0-9471-47C685398802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98" t="6268" r="-3198" b="22317"/>
          <a:stretch/>
        </p:blipFill>
        <p:spPr bwMode="auto">
          <a:xfrm>
            <a:off x="5214686" y="1878806"/>
            <a:ext cx="1725721" cy="1544400"/>
          </a:xfr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E0821D-9FF9-9885-8955-F32DE539FC66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69" t="2921" r="177" b="27575"/>
          <a:stretch/>
        </p:blipFill>
        <p:spPr bwMode="auto">
          <a:xfrm>
            <a:off x="7496899" y="1870075"/>
            <a:ext cx="1722438" cy="1558925"/>
          </a:xfrm>
        </p:spPr>
      </p:pic>
      <p:sp>
        <p:nvSpPr>
          <p:cNvPr id="256971350" name="Заголовок 6"/>
          <p:cNvSpPr>
            <a:spLocks noGrp="1"/>
          </p:cNvSpPr>
          <p:nvPr>
            <p:ph type="title"/>
          </p:nvPr>
        </p:nvSpPr>
        <p:spPr bwMode="auto">
          <a:xfrm>
            <a:off x="536575" y="497184"/>
            <a:ext cx="4953000" cy="396000"/>
          </a:xfrm>
        </p:spPr>
        <p:txBody>
          <a:bodyPr/>
          <a:lstStyle/>
          <a:p>
            <a:pPr>
              <a:defRPr/>
            </a:pPr>
            <a:r>
              <a:rPr lang="ru-RU" sz="2300" dirty="0"/>
              <a:t>КОМАНДА «Замерщики дверей»</a:t>
            </a:r>
          </a:p>
        </p:txBody>
      </p:sp>
      <p:sp>
        <p:nvSpPr>
          <p:cNvPr id="114397020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2823410" y="4250028"/>
            <a:ext cx="1894354" cy="1624612"/>
          </a:xfrm>
        </p:spPr>
        <p:txBody>
          <a:bodyPr>
            <a:normAutofit/>
          </a:bodyPr>
          <a:lstStyle/>
          <a:p>
            <a:pPr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CV-</a:t>
            </a:r>
            <a:r>
              <a:rPr lang="ru-RU" dirty="0">
                <a:solidFill>
                  <a:schemeClr val="tx1"/>
                </a:solidFill>
              </a:rPr>
              <a:t>инженер</a:t>
            </a:r>
            <a:endParaRPr sz="1600" dirty="0"/>
          </a:p>
          <a:p>
            <a:pPr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@</a:t>
            </a:r>
            <a:r>
              <a:rPr lang="en-US" dirty="0" err="1">
                <a:solidFill>
                  <a:schemeClr val="tx1"/>
                </a:solidFill>
              </a:rPr>
              <a:t>NorthernGxner</a:t>
            </a:r>
            <a:endParaRPr sz="1600" dirty="0"/>
          </a:p>
          <a:p>
            <a:pPr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8 (910) 534-48-98</a:t>
            </a:r>
            <a:endParaRPr lang="ru-RU" sz="1600" dirty="0"/>
          </a:p>
          <a:p>
            <a:pPr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dirty="0">
                <a:solidFill>
                  <a:schemeClr val="tx1"/>
                </a:solidFill>
              </a:rPr>
              <a:t>Студент РТУ МИРЭА, </a:t>
            </a:r>
            <a:r>
              <a:rPr lang="en-US" dirty="0">
                <a:solidFill>
                  <a:schemeClr val="tx1"/>
                </a:solidFill>
              </a:rPr>
              <a:t>Softline (CV-</a:t>
            </a:r>
            <a:r>
              <a:rPr lang="ru-RU" dirty="0">
                <a:solidFill>
                  <a:schemeClr val="tx1"/>
                </a:solidFill>
              </a:rPr>
              <a:t>инженер)</a:t>
            </a:r>
            <a:endParaRPr lang="ru-RU" sz="1600" dirty="0"/>
          </a:p>
        </p:txBody>
      </p:sp>
      <p:sp>
        <p:nvSpPr>
          <p:cNvPr id="829860910" name="Текст 8"/>
          <p:cNvSpPr txBox="1"/>
          <p:nvPr/>
        </p:nvSpPr>
        <p:spPr bwMode="auto">
          <a:xfrm>
            <a:off x="282340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  <a:latin typeface="Montserrat"/>
              </a:rPr>
              <a:t>Никита </a:t>
            </a:r>
            <a:r>
              <a:rPr lang="ru-RU" sz="1600" b="1" dirty="0" err="1">
                <a:solidFill>
                  <a:schemeClr val="accent5"/>
                </a:solidFill>
                <a:latin typeface="Montserrat"/>
              </a:rPr>
              <a:t>Нурпиисов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4607" name="Скругленный прямоугольник 1"/>
          <p:cNvSpPr/>
          <p:nvPr/>
        </p:nvSpPr>
        <p:spPr bwMode="auto">
          <a:xfrm>
            <a:off x="346074" y="324562"/>
            <a:ext cx="417213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97813444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5412385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5619750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«Замерщики дверей»</a:t>
            </a:r>
          </a:p>
        </p:txBody>
      </p:sp>
      <p:sp>
        <p:nvSpPr>
          <p:cNvPr id="186337221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6" y="1602273"/>
            <a:ext cx="885825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В одну команду нас объединила учеба и любовь к общему делу – программированию. Ранее мы участвовали в следующих соревнованиях: «Цифровой прорыв», «Я – профессионал», МТС «</a:t>
            </a:r>
            <a:r>
              <a:rPr lang="en-US" dirty="0">
                <a:solidFill>
                  <a:schemeClr val="tx1"/>
                </a:solidFill>
              </a:rPr>
              <a:t>True Tech Hack</a:t>
            </a:r>
            <a:r>
              <a:rPr lang="ru-RU" dirty="0">
                <a:solidFill>
                  <a:schemeClr val="tx1"/>
                </a:solidFill>
              </a:rPr>
              <a:t>», а так же внутренний </a:t>
            </a:r>
            <a:r>
              <a:rPr lang="ru-RU" dirty="0" err="1">
                <a:solidFill>
                  <a:schemeClr val="tx1"/>
                </a:solidFill>
              </a:rPr>
              <a:t>хакатон</a:t>
            </a:r>
            <a:r>
              <a:rPr lang="ru-RU" dirty="0">
                <a:solidFill>
                  <a:schemeClr val="tx1"/>
                </a:solidFill>
              </a:rPr>
              <a:t> РТУ МИРЭА от Газпром Автоматизация.  </a:t>
            </a:r>
          </a:p>
        </p:txBody>
      </p:sp>
      <p:sp>
        <p:nvSpPr>
          <p:cNvPr id="1149130949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  <a:latin typeface="Montserrat"/>
              </a:rPr>
              <a:t>Краткая история команды:</a:t>
            </a:r>
            <a:endParaRPr dirty="0"/>
          </a:p>
        </p:txBody>
      </p:sp>
      <p:sp>
        <p:nvSpPr>
          <p:cNvPr id="606741399" name="Текст 8"/>
          <p:cNvSpPr txBox="1"/>
          <p:nvPr/>
        </p:nvSpPr>
        <p:spPr bwMode="auto">
          <a:xfrm>
            <a:off x="533607" y="5139255"/>
            <a:ext cx="8858250" cy="11906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  <a:latin typeface="Montserrat"/>
              </a:rPr>
              <a:t>Данных мало: 100 исследований, от 6 до 36 примеров на нарушение, а разметки областей по снимкам нет. Отказались от нейросети в пользу измеримых признаков и обучили классификатор областей без учителя.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  <a:latin typeface="Montserrat"/>
              </a:rPr>
              <a:t>Не обмануть себя метриками: разбиение строго по исследованиям и доверительные интервалы </a:t>
            </a:r>
            <a:r>
              <a:rPr lang="ru-RU" dirty="0" err="1">
                <a:solidFill>
                  <a:schemeClr val="tx1"/>
                </a:solidFill>
                <a:latin typeface="Montserrat"/>
              </a:rPr>
              <a:t>бутстрапом</a:t>
            </a:r>
            <a:r>
              <a:rPr lang="ru-RU" dirty="0">
                <a:solidFill>
                  <a:schemeClr val="tx1"/>
                </a:solidFill>
                <a:latin typeface="Montserrat"/>
              </a:rPr>
              <a:t>. Плюс пакетный режим в точном формате ТЗ, вход через Госуслуги и обезличивание данных.</a:t>
            </a:r>
          </a:p>
        </p:txBody>
      </p:sp>
      <p:sp>
        <p:nvSpPr>
          <p:cNvPr id="1113060845" name="Текст 8"/>
          <p:cNvSpPr txBox="1"/>
          <p:nvPr/>
        </p:nvSpPr>
        <p:spPr bwMode="auto">
          <a:xfrm>
            <a:off x="533608" y="4571473"/>
            <a:ext cx="7239000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  <a:endParaRPr dirty="0"/>
          </a:p>
        </p:txBody>
      </p:sp>
      <p:sp>
        <p:nvSpPr>
          <p:cNvPr id="9615115" name="Текст 8"/>
          <p:cNvSpPr txBox="1"/>
          <p:nvPr/>
        </p:nvSpPr>
        <p:spPr bwMode="auto">
          <a:xfrm>
            <a:off x="533607" y="3429000"/>
            <a:ext cx="953824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  <a:latin typeface="Montserrat"/>
              </a:rPr>
              <a:t>Мы любим ставить перед собой новые вызовы, поэтому выбрали кейс, где нужно разобраться в непростой задаче компьютерного зрения и поработать с медицинскими данными. Нас привлекла возможность выйти за рамки привычных задач и применить </a:t>
            </a:r>
            <a:r>
              <a:rPr lang="en" dirty="0">
                <a:solidFill>
                  <a:schemeClr val="tx1"/>
                </a:solidFill>
                <a:latin typeface="Montserrat"/>
              </a:rPr>
              <a:t>CV </a:t>
            </a:r>
            <a:r>
              <a:rPr lang="ru-RU" dirty="0">
                <a:solidFill>
                  <a:schemeClr val="tx1"/>
                </a:solidFill>
                <a:latin typeface="Montserrat"/>
              </a:rPr>
              <a:t>для разметки рентгеновских снимков и оценки плотности костной ткани.</a:t>
            </a:r>
          </a:p>
          <a:p>
            <a:pPr marL="0" indent="0">
              <a:lnSpc>
                <a:spcPct val="100000"/>
              </a:lnSpc>
              <a:buNone/>
              <a:defRPr/>
            </a:pPr>
            <a:endParaRPr lang="ru-RU" dirty="0">
              <a:solidFill>
                <a:schemeClr val="tx1"/>
              </a:solidFill>
              <a:latin typeface="Montserrat"/>
            </a:endParaRPr>
          </a:p>
        </p:txBody>
      </p:sp>
      <p:sp>
        <p:nvSpPr>
          <p:cNvPr id="1358535309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  <a:latin typeface="Montserrat"/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  <a:latin typeface="Montserrat"/>
              </a:rPr>
              <a:t>из предложенных на </a:t>
            </a:r>
            <a:r>
              <a:rPr lang="ru-RU" b="1" dirty="0" err="1">
                <a:solidFill>
                  <a:schemeClr val="accent5"/>
                </a:solidFill>
                <a:latin typeface="Montserrat"/>
              </a:rPr>
              <a:t>хакатоне</a:t>
            </a:r>
            <a:r>
              <a:rPr lang="ru-RU" b="1" dirty="0">
                <a:solidFill>
                  <a:schemeClr val="accent5"/>
                </a:solidFill>
                <a:latin typeface="Montserrat"/>
              </a:rPr>
              <a:t>?</a:t>
            </a:r>
            <a:endParaRPr dirty="0"/>
          </a:p>
        </p:txBody>
      </p:sp>
      <p:cxnSp>
        <p:nvCxnSpPr>
          <p:cNvPr id="1708188651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3345603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7696059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5066629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  <a:latin typeface="Montserrat"/>
              </a:rPr>
              <a:t>01</a:t>
            </a:r>
            <a:endParaRPr/>
          </a:p>
        </p:txBody>
      </p:sp>
      <p:sp>
        <p:nvSpPr>
          <p:cNvPr id="727074847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  <a:latin typeface="Montserrat"/>
              </a:rPr>
              <a:t>02</a:t>
            </a:r>
            <a:endParaRPr/>
          </a:p>
        </p:txBody>
      </p:sp>
      <p:sp>
        <p:nvSpPr>
          <p:cNvPr id="1972246633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  <a:latin typeface="Montserrat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864996" name="Скругленный прямоугольник 9"/>
          <p:cNvSpPr/>
          <p:nvPr/>
        </p:nvSpPr>
        <p:spPr bwMode="auto">
          <a:xfrm>
            <a:off x="346076" y="324562"/>
            <a:ext cx="294845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15202330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8994539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3817411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3090440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defRPr/>
            </a:pPr>
            <a:r>
              <a:rPr lang="ru-RU" sz="1800" dirty="0">
                <a:solidFill>
                  <a:schemeClr val="tx1"/>
                </a:solidFill>
              </a:rPr>
              <a:t>Python, </a:t>
            </a:r>
            <a:r>
              <a:rPr lang="ru-RU" sz="1800" dirty="0" err="1">
                <a:solidFill>
                  <a:schemeClr val="tx1"/>
                </a:solidFill>
              </a:rPr>
              <a:t>FastAPI</a:t>
            </a:r>
            <a:r>
              <a:rPr lang="ru-RU" sz="1800" dirty="0">
                <a:solidFill>
                  <a:schemeClr val="tx1"/>
                </a:solidFill>
              </a:rPr>
              <a:t>, </a:t>
            </a:r>
            <a:r>
              <a:rPr lang="ru-RU" sz="1800" dirty="0" err="1">
                <a:solidFill>
                  <a:schemeClr val="tx1"/>
                </a:solidFill>
              </a:rPr>
              <a:t>scikit-learn</a:t>
            </a:r>
            <a:r>
              <a:rPr lang="ru-RU" sz="1800" dirty="0">
                <a:solidFill>
                  <a:schemeClr val="tx1"/>
                </a:solidFill>
              </a:rPr>
              <a:t>: признаки качества по критериям ТЗ и классические модели, выбранные по ROC-AUC на кросс-валидации по исследованиям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sz="1800" dirty="0">
                <a:solidFill>
                  <a:schemeClr val="tx1"/>
                </a:solidFill>
              </a:rPr>
              <a:t>Определение области снимка, 5 типов нарушений (</a:t>
            </a:r>
            <a:r>
              <a:rPr lang="ru-RU" sz="1800" dirty="0" err="1">
                <a:solidFill>
                  <a:schemeClr val="tx1"/>
                </a:solidFill>
              </a:rPr>
              <a:t>мультиметка</a:t>
            </a:r>
            <a:r>
              <a:rPr lang="ru-RU" sz="1800" dirty="0">
                <a:solidFill>
                  <a:schemeClr val="tx1"/>
                </a:solidFill>
              </a:rPr>
              <a:t>), очередь врача при неуверенности модели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sz="1800" dirty="0">
                <a:solidFill>
                  <a:schemeClr val="tx1"/>
                </a:solidFill>
              </a:rPr>
              <a:t>Пакетная обработка: </a:t>
            </a:r>
            <a:r>
              <a:rPr lang="ru-RU" sz="1800" dirty="0" err="1">
                <a:solidFill>
                  <a:schemeClr val="tx1"/>
                </a:solidFill>
              </a:rPr>
              <a:t>csv</a:t>
            </a:r>
            <a:r>
              <a:rPr lang="ru-RU" sz="1800" dirty="0">
                <a:solidFill>
                  <a:schemeClr val="tx1"/>
                </a:solidFill>
              </a:rPr>
              <a:t>/</a:t>
            </a:r>
            <a:r>
              <a:rPr lang="ru-RU" sz="1800" dirty="0" err="1">
                <a:solidFill>
                  <a:schemeClr val="tx1"/>
                </a:solidFill>
              </a:rPr>
              <a:t>xlsx</a:t>
            </a:r>
            <a:r>
              <a:rPr lang="ru-RU" sz="1800" dirty="0">
                <a:solidFill>
                  <a:schemeClr val="tx1"/>
                </a:solidFill>
              </a:rPr>
              <a:t> в формате ТЗ и DICOM-серия с визуализацией; 1,9 с на исследование на CPU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sz="1800" dirty="0" err="1">
                <a:solidFill>
                  <a:schemeClr val="tx1"/>
                </a:solidFill>
              </a:rPr>
              <a:t>Docker</a:t>
            </a:r>
            <a:r>
              <a:rPr lang="ru-RU" sz="1800" dirty="0">
                <a:solidFill>
                  <a:schemeClr val="tx1"/>
                </a:solidFill>
              </a:rPr>
              <a:t>, одна команда запуска, работа без внешних сервисов, обезличивание данных</a:t>
            </a:r>
          </a:p>
        </p:txBody>
      </p:sp>
      <p:sp>
        <p:nvSpPr>
          <p:cNvPr id="1695220857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ru-RU" sz="1800" dirty="0">
                <a:solidFill>
                  <a:schemeClr val="tx1"/>
                </a:solidFill>
              </a:rPr>
              <a:t>Пользователи: рентгенолаборанты, врачи-рентгенологи, заведующие отделениями лучевой диагностики</a:t>
            </a:r>
          </a:p>
          <a:p>
            <a:pPr>
              <a:lnSpc>
                <a:spcPct val="100000"/>
              </a:lnSpc>
              <a:defRPr/>
            </a:pPr>
            <a:r>
              <a:rPr lang="ru-RU" sz="1800" dirty="0">
                <a:solidFill>
                  <a:schemeClr val="tx1"/>
                </a:solidFill>
              </a:rPr>
              <a:t>Ценность: меньше повторных визитов и лишнего облучения; врач смотрит только сомнительные случаи</a:t>
            </a:r>
          </a:p>
          <a:p>
            <a:pPr>
              <a:lnSpc>
                <a:spcPct val="100000"/>
              </a:lnSpc>
              <a:defRPr/>
            </a:pPr>
            <a:r>
              <a:rPr lang="ru-RU" sz="1800" dirty="0">
                <a:solidFill>
                  <a:schemeClr val="tx1"/>
                </a:solidFill>
              </a:rPr>
              <a:t>Внедрение: пилот в отделении с денситометром, дообучение на заключениях врачей из очереди</a:t>
            </a:r>
          </a:p>
          <a:p>
            <a:pPr>
              <a:lnSpc>
                <a:spcPct val="100000"/>
              </a:lnSpc>
              <a:defRPr/>
            </a:pPr>
            <a:r>
              <a:rPr lang="ru-RU" sz="1800" dirty="0">
                <a:solidFill>
                  <a:schemeClr val="tx1"/>
                </a:solidFill>
              </a:rPr>
              <a:t>Развитие: интеграция с PACS и ЕМИАС, вход через Госуслуги, поддержка других аппаратов</a:t>
            </a:r>
          </a:p>
        </p:txBody>
      </p:sp>
      <p:sp>
        <p:nvSpPr>
          <p:cNvPr id="113378653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КОРОТКО О РЕШЕНИИ</a:t>
            </a:r>
            <a:endParaRPr/>
          </a:p>
        </p:txBody>
      </p:sp>
      <p:sp>
        <p:nvSpPr>
          <p:cNvPr id="181193879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  <a:endParaRPr dirty="0"/>
          </a:p>
        </p:txBody>
      </p:sp>
      <p:sp>
        <p:nvSpPr>
          <p:cNvPr id="94878119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  <a:latin typeface="Montserrat"/>
              </a:rPr>
              <a:t>Маркетинговая суть решения</a:t>
            </a:r>
            <a:endParaRPr dirty="0"/>
          </a:p>
          <a:p>
            <a:pPr>
              <a:lnSpc>
                <a:spcPct val="100000"/>
              </a:lnSpc>
              <a:defRPr/>
            </a:pP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2835" name="Скругленный прямоугольник 9"/>
          <p:cNvSpPr/>
          <p:nvPr/>
        </p:nvSpPr>
        <p:spPr bwMode="auto">
          <a:xfrm>
            <a:off x="346075" y="324562"/>
            <a:ext cx="310386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9754453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0861248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3874592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33497077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5532861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96702583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ru-RU" sz="1700" dirty="0">
                <a:solidFill>
                  <a:srgbClr val="520978"/>
                </a:solidFill>
                <a:latin typeface="Montserrat"/>
              </a:rPr>
              <a:t>Проблема</a:t>
            </a:r>
          </a:p>
        </p:txBody>
      </p:sp>
      <p:sp>
        <p:nvSpPr>
          <p:cNvPr id="138619797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400" dirty="0">
                <a:solidFill>
                  <a:srgbClr val="1C1D22"/>
                </a:solidFill>
                <a:latin typeface="Montserrat"/>
              </a:rPr>
              <a:t>Ошибка укладки или разметки видна, когда пациент уже ушёл. Повторный визит — это облучение, время и деньги. Ручной контроль требует знать критерии каждой области.</a:t>
            </a:r>
          </a:p>
        </p:txBody>
      </p:sp>
      <p:sp>
        <p:nvSpPr>
          <p:cNvPr id="144489593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lang="ru-RU" sz="1700" dirty="0">
                <a:solidFill>
                  <a:srgbClr val="520978"/>
                </a:solidFill>
                <a:latin typeface="Montserrat"/>
              </a:rPr>
              <a:t>Подход</a:t>
            </a:r>
          </a:p>
        </p:txBody>
      </p:sp>
      <p:sp>
        <p:nvSpPr>
          <p:cNvPr id="214318722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400" dirty="0">
                <a:solidFill>
                  <a:srgbClr val="1C1D22"/>
                </a:solidFill>
                <a:latin typeface="Montserrat"/>
              </a:rPr>
              <a:t>Измеряем то, на что смотрит врач: угол оси, посторонние объекты, профиль малого вертела, границы кадра. На этих признаках учим классические модели.</a:t>
            </a:r>
          </a:p>
        </p:txBody>
      </p:sp>
      <p:sp>
        <p:nvSpPr>
          <p:cNvPr id="1204859240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lang="ru-RU" sz="1700" dirty="0">
                <a:solidFill>
                  <a:srgbClr val="520978"/>
                </a:solidFill>
                <a:latin typeface="Montserrat"/>
              </a:rPr>
              <a:t>Почему не нейросеть</a:t>
            </a:r>
          </a:p>
        </p:txBody>
      </p:sp>
      <p:sp>
        <p:nvSpPr>
          <p:cNvPr id="581874941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400" dirty="0">
                <a:solidFill>
                  <a:srgbClr val="1C1D22"/>
                </a:solidFill>
                <a:latin typeface="Montserrat"/>
              </a:rPr>
              <a:t>100 исследований и 6–36 примеров на нарушение: нейросеть переобучится. Признаки дают объяснение и работают на CPU за секунды.</a:t>
            </a:r>
          </a:p>
        </p:txBody>
      </p:sp>
      <p:sp>
        <p:nvSpPr>
          <p:cNvPr id="1782957241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ru-RU" sz="1700" dirty="0">
                <a:solidFill>
                  <a:srgbClr val="520978"/>
                </a:solidFill>
                <a:latin typeface="Montserrat"/>
              </a:rPr>
              <a:t>Результат</a:t>
            </a:r>
          </a:p>
        </p:txBody>
      </p:sp>
      <p:sp>
        <p:nvSpPr>
          <p:cNvPr id="711149997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400" dirty="0">
                <a:solidFill>
                  <a:srgbClr val="1C1D22"/>
                </a:solidFill>
                <a:latin typeface="Montserrat"/>
              </a:rPr>
              <a:t>Вердикт за 2 секунды, подсказка «как исправить», очередь врача для сомнительных случаев и сводка качества отделения.</a:t>
            </a:r>
          </a:p>
        </p:txBody>
      </p:sp>
      <p:sp>
        <p:nvSpPr>
          <p:cNvPr id="6219396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ПРОБЛЕМА И ПОДХОД</a:t>
            </a:r>
          </a:p>
        </p:txBody>
      </p:sp>
      <p:sp>
        <p:nvSpPr>
          <p:cNvPr id="124319577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1119025481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158756031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1591282118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405904" name="Скругленный прямоугольник 7"/>
          <p:cNvSpPr/>
          <p:nvPr/>
        </p:nvSpPr>
        <p:spPr bwMode="auto">
          <a:xfrm>
            <a:off x="405359" y="3943254"/>
            <a:ext cx="3728347" cy="1825368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26926983" name="Скругленный прямоугольник 9"/>
          <p:cNvSpPr/>
          <p:nvPr/>
        </p:nvSpPr>
        <p:spPr bwMode="auto">
          <a:xfrm>
            <a:off x="4298113" y="3943254"/>
            <a:ext cx="3728347" cy="1825367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79289597" name="Скругленный прямоугольник 10"/>
          <p:cNvSpPr/>
          <p:nvPr/>
        </p:nvSpPr>
        <p:spPr bwMode="auto">
          <a:xfrm>
            <a:off x="8201351" y="3943255"/>
            <a:ext cx="3728347" cy="1825368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78443013" name="Скругленный прямоугольник 1"/>
          <p:cNvSpPr/>
          <p:nvPr/>
        </p:nvSpPr>
        <p:spPr bwMode="auto">
          <a:xfrm>
            <a:off x="346075" y="324562"/>
            <a:ext cx="259883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74483841" name="Скругленный прямоугольник 16"/>
          <p:cNvSpPr/>
          <p:nvPr/>
        </p:nvSpPr>
        <p:spPr bwMode="auto">
          <a:xfrm>
            <a:off x="5343703" y="202783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94788768" name="Скругленный прямоугольник 6"/>
          <p:cNvSpPr/>
          <p:nvPr/>
        </p:nvSpPr>
        <p:spPr bwMode="auto">
          <a:xfrm>
            <a:off x="1544459" y="202783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39346002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03481987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592522" y="4221860"/>
            <a:ext cx="3264113" cy="1373054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1800" b="1" dirty="0">
                <a:solidFill>
                  <a:srgbClr val="1C1D22"/>
                </a:solidFill>
              </a:rPr>
              <a:t>Загрузка</a:t>
            </a:r>
          </a:p>
          <a:p>
            <a:pPr>
              <a:lnSpc>
                <a:spcPct val="100000"/>
              </a:lnSpc>
              <a:defRPr/>
            </a:pPr>
            <a:r>
              <a:rPr lang="ru-RU" sz="1600" b="0" dirty="0">
                <a:solidFill>
                  <a:srgbClr val="1C1D22"/>
                </a:solidFill>
              </a:rPr>
              <a:t>Лаборант загружает DICOM сразу после сканирования. Или целый архив — через интерфейс, API или скрипт.</a:t>
            </a:r>
          </a:p>
        </p:txBody>
      </p:sp>
      <p:sp>
        <p:nvSpPr>
          <p:cNvPr id="1914706193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40866" y="4270081"/>
            <a:ext cx="3264113" cy="1176456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1800" b="1" dirty="0">
                <a:solidFill>
                  <a:srgbClr val="1C1D22"/>
                </a:solidFill>
              </a:rPr>
              <a:t>Анализ</a:t>
            </a:r>
          </a:p>
          <a:p>
            <a:pPr>
              <a:lnSpc>
                <a:spcPct val="100000"/>
              </a:lnSpc>
              <a:defRPr/>
            </a:pPr>
            <a:r>
              <a:rPr lang="ru-RU" sz="1600" b="0" dirty="0">
                <a:solidFill>
                  <a:srgbClr val="1C1D22"/>
                </a:solidFill>
              </a:rPr>
              <a:t>Область каждого снимка, признаки качества, 7 моделей. В среднем 1,9 секунды на исследование.</a:t>
            </a:r>
          </a:p>
        </p:txBody>
      </p:sp>
      <p:sp>
        <p:nvSpPr>
          <p:cNvPr id="600520179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381299" y="4212516"/>
            <a:ext cx="3264113" cy="1378033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1800" b="1" dirty="0">
                <a:solidFill>
                  <a:srgbClr val="1C1D22"/>
                </a:solidFill>
              </a:rPr>
              <a:t>Решение</a:t>
            </a:r>
          </a:p>
          <a:p>
            <a:pPr>
              <a:lnSpc>
                <a:spcPct val="100000"/>
              </a:lnSpc>
              <a:defRPr/>
            </a:pPr>
            <a:r>
              <a:rPr lang="ru-RU" sz="1600" b="0" dirty="0">
                <a:solidFill>
                  <a:srgbClr val="1C1D22"/>
                </a:solidFill>
              </a:rPr>
              <a:t>Вердикт, тип нарушения и подсказка на экране. Сомнительное — в очередь врача, итоги — в сводку заведующего</a:t>
            </a:r>
            <a:r>
              <a:rPr lang="ru-RU" sz="1400" b="0" dirty="0">
                <a:solidFill>
                  <a:srgbClr val="1C1D22"/>
                </a:solidFill>
              </a:rPr>
              <a:t>.</a:t>
            </a:r>
          </a:p>
        </p:txBody>
      </p:sp>
      <p:cxnSp>
        <p:nvCxnSpPr>
          <p:cNvPr id="315705843" name="Google Shape;2799;p94"/>
          <p:cNvCxnSpPr/>
          <p:nvPr/>
        </p:nvCxnSpPr>
        <p:spPr bwMode="auto">
          <a:xfrm flipV="1">
            <a:off x="3045436" y="278225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8242542" name="Google Shape;2829;p94"/>
          <p:cNvGrpSpPr/>
          <p:nvPr/>
        </p:nvGrpSpPr>
        <p:grpSpPr bwMode="auto">
          <a:xfrm>
            <a:off x="1902528" y="241449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059724020" name="Google Shape;2818;p94"/>
          <p:cNvGrpSpPr/>
          <p:nvPr/>
        </p:nvGrpSpPr>
        <p:grpSpPr bwMode="auto">
          <a:xfrm>
            <a:off x="5713929" y="238390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364657375" name="Google Shape;2805;p94"/>
          <p:cNvGrpSpPr/>
          <p:nvPr/>
        </p:nvGrpSpPr>
        <p:grpSpPr bwMode="auto">
          <a:xfrm>
            <a:off x="9760765" y="241097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909425058" name="Скругленный прямоугольник 17"/>
          <p:cNvSpPr/>
          <p:nvPr/>
        </p:nvSpPr>
        <p:spPr bwMode="auto">
          <a:xfrm>
            <a:off x="9340451" y="205786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6818921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КАК ЭТО РАБОТАЕТ</a:t>
            </a:r>
          </a:p>
        </p:txBody>
      </p:sp>
      <p:cxnSp>
        <p:nvCxnSpPr>
          <p:cNvPr id="1247060501" name="Google Shape;2799;p94"/>
          <p:cNvCxnSpPr/>
          <p:nvPr/>
        </p:nvCxnSpPr>
        <p:spPr bwMode="auto">
          <a:xfrm flipV="1">
            <a:off x="6846606" y="278042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871595" name="Скругленный прямоугольник 22"/>
          <p:cNvSpPr/>
          <p:nvPr/>
        </p:nvSpPr>
        <p:spPr bwMode="auto">
          <a:xfrm>
            <a:off x="346075" y="324562"/>
            <a:ext cx="204750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3739586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70592756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520978"/>
                </a:solidFill>
                <a:latin typeface="Montserrat"/>
              </a:rPr>
              <a:t>Frontend</a:t>
            </a:r>
          </a:p>
        </p:txBody>
      </p:sp>
      <p:sp>
        <p:nvSpPr>
          <p:cNvPr id="120473447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 dirty="0" err="1">
                <a:solidFill>
                  <a:srgbClr val="1C1D22"/>
                </a:solidFill>
              </a:rPr>
              <a:t>React</a:t>
            </a:r>
            <a:r>
              <a:rPr lang="ru-RU" sz="1200" dirty="0">
                <a:solidFill>
                  <a:srgbClr val="1C1D22"/>
                </a:solidFill>
              </a:rPr>
              <a:t> 19, </a:t>
            </a:r>
            <a:r>
              <a:rPr lang="ru-RU" sz="1200" dirty="0" err="1">
                <a:solidFill>
                  <a:srgbClr val="1C1D22"/>
                </a:solidFill>
              </a:rPr>
              <a:t>Vite</a:t>
            </a:r>
            <a:r>
              <a:rPr lang="ru-RU" sz="1200" dirty="0">
                <a:solidFill>
                  <a:srgbClr val="1C1D22"/>
                </a:solidFill>
              </a:rPr>
              <a:t>, </a:t>
            </a:r>
            <a:r>
              <a:rPr lang="ru-RU" sz="1200" dirty="0" err="1">
                <a:solidFill>
                  <a:srgbClr val="1C1D22"/>
                </a:solidFill>
              </a:rPr>
              <a:t>Tailwind</a:t>
            </a:r>
            <a:r>
              <a:rPr lang="ru-RU" sz="1200" dirty="0">
                <a:solidFill>
                  <a:srgbClr val="1C1D22"/>
                </a:solidFill>
              </a:rPr>
              <a:t>. Роли, очередь врача, сводка, пакетная проверка; телефон и компьютер.</a:t>
            </a:r>
          </a:p>
        </p:txBody>
      </p:sp>
      <p:sp>
        <p:nvSpPr>
          <p:cNvPr id="1914536132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520978"/>
                </a:solidFill>
                <a:latin typeface="Montserrat"/>
              </a:rPr>
              <a:t>ML-сервис</a:t>
            </a:r>
          </a:p>
        </p:txBody>
      </p:sp>
      <p:sp>
        <p:nvSpPr>
          <p:cNvPr id="1000525469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 dirty="0" err="1">
                <a:solidFill>
                  <a:srgbClr val="1C1D22"/>
                </a:solidFill>
              </a:rPr>
              <a:t>FastAPI</a:t>
            </a:r>
            <a:r>
              <a:rPr lang="ru-RU" sz="1200" dirty="0">
                <a:solidFill>
                  <a:srgbClr val="1C1D22"/>
                </a:solidFill>
              </a:rPr>
              <a:t> без БД: DICOM → вердикт. /v1/</a:t>
            </a:r>
            <a:r>
              <a:rPr lang="ru-RU" sz="1200" dirty="0" err="1">
                <a:solidFill>
                  <a:srgbClr val="1C1D22"/>
                </a:solidFill>
              </a:rPr>
              <a:t>analyze</a:t>
            </a:r>
            <a:r>
              <a:rPr lang="ru-RU" sz="1200" dirty="0">
                <a:solidFill>
                  <a:srgbClr val="1C1D22"/>
                </a:solidFill>
              </a:rPr>
              <a:t> и /v1/</a:t>
            </a:r>
            <a:r>
              <a:rPr lang="ru-RU" sz="1200" dirty="0" err="1">
                <a:solidFill>
                  <a:srgbClr val="1C1D22"/>
                </a:solidFill>
              </a:rPr>
              <a:t>batch</a:t>
            </a:r>
            <a:r>
              <a:rPr lang="ru-RU" sz="1200" dirty="0">
                <a:solidFill>
                  <a:srgbClr val="1C1D22"/>
                </a:solidFill>
              </a:rPr>
              <a:t>, модель грузится один раз.</a:t>
            </a:r>
          </a:p>
        </p:txBody>
      </p:sp>
      <p:sp>
        <p:nvSpPr>
          <p:cNvPr id="1411382003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520978"/>
                </a:solidFill>
                <a:latin typeface="Montserrat"/>
              </a:rPr>
              <a:t>Пакетный режим</a:t>
            </a:r>
          </a:p>
        </p:txBody>
      </p:sp>
      <p:sp>
        <p:nvSpPr>
          <p:cNvPr id="52367161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 dirty="0" err="1">
                <a:solidFill>
                  <a:srgbClr val="1C1D22"/>
                </a:solidFill>
              </a:rPr>
              <a:t>run_batch.sh</a:t>
            </a:r>
            <a:r>
              <a:rPr lang="ru-RU" sz="1200" dirty="0">
                <a:solidFill>
                  <a:srgbClr val="1C1D22"/>
                </a:solidFill>
              </a:rPr>
              <a:t>: контейнер без сети, папка или </a:t>
            </a:r>
            <a:r>
              <a:rPr lang="ru-RU" sz="1200" dirty="0" err="1">
                <a:solidFill>
                  <a:srgbClr val="1C1D22"/>
                </a:solidFill>
              </a:rPr>
              <a:t>zip</a:t>
            </a:r>
            <a:r>
              <a:rPr lang="ru-RU" sz="1200" dirty="0">
                <a:solidFill>
                  <a:srgbClr val="1C1D22"/>
                </a:solidFill>
              </a:rPr>
              <a:t> → </a:t>
            </a:r>
            <a:r>
              <a:rPr lang="ru-RU" sz="1200" dirty="0" err="1">
                <a:solidFill>
                  <a:srgbClr val="1C1D22"/>
                </a:solidFill>
              </a:rPr>
              <a:t>csv</a:t>
            </a:r>
            <a:r>
              <a:rPr lang="ru-RU" sz="1200" dirty="0">
                <a:solidFill>
                  <a:srgbClr val="1C1D22"/>
                </a:solidFill>
              </a:rPr>
              <a:t>/</a:t>
            </a:r>
            <a:r>
              <a:rPr lang="ru-RU" sz="1200" dirty="0" err="1">
                <a:solidFill>
                  <a:srgbClr val="1C1D22"/>
                </a:solidFill>
              </a:rPr>
              <a:t>xlsx</a:t>
            </a:r>
            <a:r>
              <a:rPr lang="ru-RU" sz="1200" dirty="0">
                <a:solidFill>
                  <a:srgbClr val="1C1D22"/>
                </a:solidFill>
              </a:rPr>
              <a:t> по ТЗ и DICOM-серии.</a:t>
            </a:r>
          </a:p>
        </p:txBody>
      </p:sp>
      <p:sp>
        <p:nvSpPr>
          <p:cNvPr id="151657743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520978"/>
                </a:solidFill>
                <a:latin typeface="Montserrat"/>
              </a:rPr>
              <a:t>Core API</a:t>
            </a:r>
          </a:p>
        </p:txBody>
      </p:sp>
      <p:sp>
        <p:nvSpPr>
          <p:cNvPr id="315127611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 dirty="0" err="1">
                <a:solidFill>
                  <a:srgbClr val="1C1D22"/>
                </a:solidFill>
              </a:rPr>
              <a:t>FastAPI</a:t>
            </a:r>
            <a:r>
              <a:rPr lang="ru-RU" sz="1200" dirty="0">
                <a:solidFill>
                  <a:srgbClr val="1C1D22"/>
                </a:solidFill>
              </a:rPr>
              <a:t>, JWT, роли, вход через ЕСИА. Загрузка, анализ в фоне, заключения врача.</a:t>
            </a:r>
          </a:p>
        </p:txBody>
      </p:sp>
      <p:sp>
        <p:nvSpPr>
          <p:cNvPr id="880727742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520978"/>
                </a:solidFill>
                <a:latin typeface="Montserrat"/>
              </a:rPr>
              <a:t>PostgreSQL</a:t>
            </a:r>
          </a:p>
        </p:txBody>
      </p:sp>
      <p:sp>
        <p:nvSpPr>
          <p:cNvPr id="992722641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 dirty="0">
                <a:solidFill>
                  <a:srgbClr val="1C1D22"/>
                </a:solidFill>
              </a:rPr>
              <a:t>Исследования, результаты, решения врачей. Миграции </a:t>
            </a:r>
            <a:r>
              <a:rPr lang="ru-RU" sz="1200" dirty="0" err="1">
                <a:solidFill>
                  <a:srgbClr val="1C1D22"/>
                </a:solidFill>
              </a:rPr>
              <a:t>Alembic</a:t>
            </a:r>
            <a:r>
              <a:rPr lang="ru-RU" sz="1200" dirty="0">
                <a:solidFill>
                  <a:srgbClr val="1C1D22"/>
                </a:solidFill>
              </a:rPr>
              <a:t>, без персональных данных.</a:t>
            </a:r>
          </a:p>
        </p:txBody>
      </p:sp>
      <p:sp>
        <p:nvSpPr>
          <p:cNvPr id="473703546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520978"/>
                </a:solidFill>
                <a:latin typeface="Montserrat"/>
              </a:rPr>
              <a:t>Docker</a:t>
            </a:r>
          </a:p>
        </p:txBody>
      </p:sp>
      <p:sp>
        <p:nvSpPr>
          <p:cNvPr id="1238224751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 dirty="0">
                <a:solidFill>
                  <a:srgbClr val="1C1D22"/>
                </a:solidFill>
              </a:rPr>
              <a:t>4 контейнера, запуск одной командой ./</a:t>
            </a:r>
            <a:r>
              <a:rPr lang="ru-RU" sz="1200" dirty="0" err="1">
                <a:solidFill>
                  <a:srgbClr val="1C1D22"/>
                </a:solidFill>
              </a:rPr>
              <a:t>run.sh</a:t>
            </a:r>
            <a:r>
              <a:rPr lang="ru-RU" sz="1200" dirty="0">
                <a:solidFill>
                  <a:srgbClr val="1C1D22"/>
                </a:solidFill>
              </a:rPr>
              <a:t>, все версии зафиксированы.</a:t>
            </a:r>
          </a:p>
        </p:txBody>
      </p:sp>
      <p:sp>
        <p:nvSpPr>
          <p:cNvPr id="85906912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АРХИТЕКТУРА</a:t>
            </a:r>
          </a:p>
        </p:txBody>
      </p:sp>
      <p:sp>
        <p:nvSpPr>
          <p:cNvPr id="944431938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016106350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1986587150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198260231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406207121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05</a:t>
            </a:r>
          </a:p>
        </p:txBody>
      </p:sp>
      <p:sp>
        <p:nvSpPr>
          <p:cNvPr id="411323055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017353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86265942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87047310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789402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9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0530888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>
              <a:defRPr/>
            </a:pPr>
            <a:r>
              <a:rPr lang="ru-RU" sz="1800" dirty="0" err="1">
                <a:solidFill>
                  <a:srgbClr val="520978"/>
                </a:solidFill>
                <a:latin typeface="+mj-lt"/>
              </a:rPr>
              <a:t>Датасет</a:t>
            </a:r>
            <a:r>
              <a:rPr lang="ru-RU" sz="1800" dirty="0">
                <a:solidFill>
                  <a:srgbClr val="520978"/>
                </a:solidFill>
                <a:latin typeface="+mj-lt"/>
              </a:rPr>
              <a:t> организаторов</a:t>
            </a:r>
          </a:p>
        </p:txBody>
      </p:sp>
      <p:sp>
        <p:nvSpPr>
          <p:cNvPr id="1069980352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</a:rPr>
              <a:t>100 исследований, 499 снимков, экспертная разметка по 5 критериям. В исследовании от 1 до 29 снимков; разметки по снимкам нет — область определяем сами.</a:t>
            </a:r>
          </a:p>
        </p:txBody>
      </p:sp>
      <p:sp>
        <p:nvSpPr>
          <p:cNvPr id="951911253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+mj-lt"/>
              </a:rPr>
              <a:t>Разбиение без утечки</a:t>
            </a:r>
          </a:p>
        </p:txBody>
      </p:sp>
      <p:sp>
        <p:nvSpPr>
          <p:cNvPr id="127925973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 err="1">
                <a:solidFill>
                  <a:srgbClr val="1C1D22"/>
                </a:solidFill>
              </a:rPr>
              <a:t>StratifiedGroupKFold</a:t>
            </a:r>
            <a:r>
              <a:rPr lang="ru-RU" sz="1600" dirty="0">
                <a:solidFill>
                  <a:srgbClr val="1C1D22"/>
                </a:solidFill>
              </a:rPr>
              <a:t> по исследованиям: снимки одного пациента никогда не попадают и в обучение, и в проверку. 5 повторов с разными разбиениями.</a:t>
            </a:r>
          </a:p>
        </p:txBody>
      </p:sp>
      <p:sp>
        <p:nvSpPr>
          <p:cNvPr id="25211680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+mj-lt"/>
                <a:ea typeface="+mj-ea"/>
              </a:rPr>
              <a:t>Честные интервалы</a:t>
            </a:r>
          </a:p>
        </p:txBody>
      </p:sp>
      <p:sp>
        <p:nvSpPr>
          <p:cNvPr id="288739441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</a:rPr>
              <a:t>Кластерный </a:t>
            </a:r>
            <a:r>
              <a:rPr lang="ru-RU" sz="1600" dirty="0" err="1">
                <a:solidFill>
                  <a:srgbClr val="1C1D22"/>
                </a:solidFill>
              </a:rPr>
              <a:t>бутстрап</a:t>
            </a:r>
            <a:r>
              <a:rPr lang="ru-RU" sz="1600" dirty="0">
                <a:solidFill>
                  <a:srgbClr val="1C1D22"/>
                </a:solidFill>
              </a:rPr>
              <a:t> по исследованиям, 1000 выборок. Дисбаланс (5–32% нарушений): веса классов и порог по F1, а не по </a:t>
            </a:r>
            <a:r>
              <a:rPr lang="ru-RU" sz="1600" dirty="0" err="1">
                <a:solidFill>
                  <a:srgbClr val="1C1D22"/>
                </a:solidFill>
              </a:rPr>
              <a:t>accuracy</a:t>
            </a:r>
            <a:r>
              <a:rPr lang="ru-RU" sz="1600" dirty="0">
                <a:solidFill>
                  <a:srgbClr val="1C1D22"/>
                </a:solidFill>
              </a:rPr>
              <a:t>.</a:t>
            </a:r>
          </a:p>
        </p:txBody>
      </p:sp>
      <p:sp>
        <p:nvSpPr>
          <p:cNvPr id="208482225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520978"/>
                </a:solidFill>
                <a:latin typeface="Montserrat"/>
              </a:rPr>
              <a:t>ДАННЫЕ И РАЗБИЕНИЕ ВЫБОРКИ</a:t>
            </a:r>
          </a:p>
        </p:txBody>
      </p:sp>
      <p:sp>
        <p:nvSpPr>
          <p:cNvPr id="559337618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100</a:t>
            </a:r>
          </a:p>
        </p:txBody>
      </p:sp>
      <p:sp>
        <p:nvSpPr>
          <p:cNvPr id="810149673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F0053"/>
                </a:solidFill>
                <a:latin typeface="Montserrat"/>
              </a:rPr>
              <a:t>5×</a:t>
            </a:r>
          </a:p>
        </p:txBody>
      </p:sp>
      <p:sp>
        <p:nvSpPr>
          <p:cNvPr id="1239998419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95%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2835" name="Скругленный прямоугольник 9"/>
          <p:cNvSpPr/>
          <p:nvPr/>
        </p:nvSpPr>
        <p:spPr bwMode="auto">
          <a:xfrm>
            <a:off x="346075" y="324562"/>
            <a:ext cx="397043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9754453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0861248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3874592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33497077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5532861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10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96702583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Montserrat"/>
              </a:rPr>
              <a:t>DICOM → кадр</a:t>
            </a:r>
          </a:p>
        </p:txBody>
      </p:sp>
      <p:sp>
        <p:nvSpPr>
          <p:cNvPr id="138619797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</a:rPr>
              <a:t>MONOCHROME1/2, 8 и 16 бит, первый кадр многокадровых файлов. Нормализация яркости, левое бедро </a:t>
            </a:r>
            <a:r>
              <a:rPr lang="ru-RU" sz="1600" dirty="0" err="1">
                <a:solidFill>
                  <a:srgbClr val="1C1D22"/>
                </a:solidFill>
              </a:rPr>
              <a:t>зеркалится</a:t>
            </a:r>
            <a:r>
              <a:rPr lang="ru-RU" sz="1600" dirty="0">
                <a:solidFill>
                  <a:srgbClr val="1C1D22"/>
                </a:solidFill>
              </a:rPr>
              <a:t>.</a:t>
            </a:r>
          </a:p>
        </p:txBody>
      </p:sp>
      <p:sp>
        <p:nvSpPr>
          <p:cNvPr id="144489593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Montserrat"/>
              </a:rPr>
              <a:t>Область снимка</a:t>
            </a:r>
          </a:p>
        </p:txBody>
      </p:sp>
      <p:sp>
        <p:nvSpPr>
          <p:cNvPr id="214318722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HOG + логистическая регрессия. Классы получены без учителя (</a:t>
            </a:r>
            <a:r>
              <a:rPr lang="ru-RU" sz="1600" dirty="0" err="1">
                <a:solidFill>
                  <a:srgbClr val="1C1D22"/>
                </a:solidFill>
                <a:latin typeface="Montserrat"/>
              </a:rPr>
              <a:t>KMeans</a:t>
            </a:r>
            <a:r>
              <a:rPr lang="ru-RU" sz="1600" dirty="0">
                <a:solidFill>
                  <a:srgbClr val="1C1D22"/>
                </a:solidFill>
                <a:latin typeface="Montserrat"/>
              </a:rPr>
              <a:t>). 3 из 3 подписанных снимков — верно.</a:t>
            </a:r>
          </a:p>
        </p:txBody>
      </p:sp>
      <p:sp>
        <p:nvSpPr>
          <p:cNvPr id="1204859240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Montserrat"/>
              </a:rPr>
              <a:t>Позвоночник</a:t>
            </a:r>
          </a:p>
        </p:txBody>
      </p:sp>
      <p:sp>
        <p:nvSpPr>
          <p:cNvPr id="581874941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Угол и отклонение средней линии (критерий «до 5°»), смещение, асимметрия, тонкие яркие линии и включения.</a:t>
            </a:r>
          </a:p>
        </p:txBody>
      </p:sp>
      <p:sp>
        <p:nvSpPr>
          <p:cNvPr id="1782957241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Montserrat"/>
              </a:rPr>
              <a:t>Бедро</a:t>
            </a:r>
          </a:p>
        </p:txBody>
      </p:sp>
      <p:sp>
        <p:nvSpPr>
          <p:cNvPr id="711149997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Угол диафиза и профиль малого вертела — ротация; ширина диафиза и закрытая зона кадра — область интересов.</a:t>
            </a:r>
          </a:p>
        </p:txBody>
      </p:sp>
      <p:sp>
        <p:nvSpPr>
          <p:cNvPr id="6219396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ПРЕДОБРАБОТКА И ПРИЗНАКИ</a:t>
            </a:r>
          </a:p>
        </p:txBody>
      </p:sp>
      <p:sp>
        <p:nvSpPr>
          <p:cNvPr id="124319577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1119025481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158756031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1591282118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969249" name="Скругленный прямоугольник 1"/>
          <p:cNvSpPr/>
          <p:nvPr/>
        </p:nvSpPr>
        <p:spPr bwMode="auto">
          <a:xfrm>
            <a:off x="346075" y="324562"/>
            <a:ext cx="3553572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36933223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09585388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1553349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83780166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24292644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13233155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32006024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ru-RU" sz="2000" b="1" dirty="0">
                <a:solidFill>
                  <a:srgbClr val="1C1D22"/>
                </a:solidFill>
                <a:latin typeface="Montserrat"/>
              </a:rPr>
              <a:t>Классы — из экспертной разметки и критериев ТЗ (раздел 2.3)</a:t>
            </a:r>
          </a:p>
          <a:p>
            <a:pPr algn="l">
              <a:lnSpc>
                <a:spcPct val="100000"/>
              </a:lnSpc>
              <a:defRPr/>
            </a:pPr>
            <a:r>
              <a:rPr lang="ru-RU" sz="1800" dirty="0">
                <a:solidFill>
                  <a:srgbClr val="1C1D22"/>
                </a:solidFill>
                <a:latin typeface="Montserrat"/>
              </a:rPr>
              <a:t>Каждое нарушение проверяет своя модель, поэтому их может быть несколько сразу: это </a:t>
            </a:r>
            <a:r>
              <a:rPr lang="ru-RU" sz="1800" dirty="0" err="1">
                <a:solidFill>
                  <a:srgbClr val="1C1D22"/>
                </a:solidFill>
                <a:latin typeface="Montserrat"/>
              </a:rPr>
              <a:t>мультиметка</a:t>
            </a:r>
            <a:r>
              <a:rPr lang="ru-RU" sz="1800" dirty="0">
                <a:solidFill>
                  <a:srgbClr val="1C1D22"/>
                </a:solidFill>
                <a:latin typeface="Montserrat"/>
              </a:rPr>
              <a:t>, а не выбор одного класса.</a:t>
            </a:r>
          </a:p>
          <a:p>
            <a:pPr algn="l">
              <a:lnSpc>
                <a:spcPct val="100000"/>
              </a:lnSpc>
              <a:defRPr/>
            </a:pPr>
            <a:r>
              <a:rPr lang="ru-RU" sz="1800" dirty="0">
                <a:solidFill>
                  <a:srgbClr val="1C1D22"/>
                </a:solidFill>
                <a:latin typeface="Montserrat"/>
              </a:rPr>
              <a:t>Область некачественная, если сработала хотя бы одна модель. Исследование качественное, только если качественны все области.</a:t>
            </a:r>
          </a:p>
          <a:p>
            <a:pPr algn="l">
              <a:lnSpc>
                <a:spcPct val="100000"/>
              </a:lnSpc>
              <a:defRPr/>
            </a:pPr>
            <a:r>
              <a:rPr lang="ru-RU" sz="1800" dirty="0">
                <a:solidFill>
                  <a:srgbClr val="1C1D22"/>
                </a:solidFill>
                <a:latin typeface="Montserrat"/>
              </a:rPr>
              <a:t>Общая модель области видит проблему, а частные не уверены — SPINE_OTHER / HIP_OTHER и проверка врачом.</a:t>
            </a:r>
          </a:p>
        </p:txBody>
      </p:sp>
      <p:sp>
        <p:nvSpPr>
          <p:cNvPr id="694715632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618958"/>
            <a:ext cx="5460470" cy="28659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200" b="1" dirty="0">
                <a:solidFill>
                  <a:srgbClr val="1C1D22"/>
                </a:solidFill>
                <a:latin typeface="Montserrat"/>
              </a:rPr>
              <a:t>SPINE_POSITIONING  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укладка: видны края подвздошных костей и половина Th12</a:t>
            </a:r>
          </a:p>
        </p:txBody>
      </p:sp>
      <p:sp>
        <p:nvSpPr>
          <p:cNvPr id="1226932975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774594" y="2645296"/>
            <a:ext cx="4256741" cy="255263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defRPr/>
            </a:pPr>
            <a:r>
              <a:rPr lang="ru-RU" sz="1200" b="1" dirty="0">
                <a:solidFill>
                  <a:srgbClr val="1C1D22"/>
                </a:solidFill>
                <a:latin typeface="Montserrat"/>
              </a:rPr>
              <a:t>SPINE_AXIS  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ось позвоночника отклонена больше чем на 5°</a:t>
            </a:r>
          </a:p>
        </p:txBody>
      </p:sp>
      <p:sp>
        <p:nvSpPr>
          <p:cNvPr id="957190871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670271" y="3647287"/>
            <a:ext cx="4463894" cy="27925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200" b="1" dirty="0">
                <a:solidFill>
                  <a:srgbClr val="1C1D22"/>
                </a:solidFill>
                <a:latin typeface="Montserrat"/>
              </a:rPr>
              <a:t>SPINE_ARTIFACT  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посторонние предметы, артефакты, наложения</a:t>
            </a:r>
          </a:p>
        </p:txBody>
      </p:sp>
      <p:sp>
        <p:nvSpPr>
          <p:cNvPr id="1863829381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865253" y="4662437"/>
            <a:ext cx="4073929" cy="26366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200" b="1" dirty="0">
                <a:solidFill>
                  <a:srgbClr val="1C1D22"/>
                </a:solidFill>
                <a:latin typeface="Montserrat"/>
              </a:rPr>
              <a:t>HIP_ROTATION  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ротация бедра, оценка по малому вертелу</a:t>
            </a:r>
          </a:p>
        </p:txBody>
      </p:sp>
      <p:sp>
        <p:nvSpPr>
          <p:cNvPr id="834067675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7033342" y="5745478"/>
            <a:ext cx="4100823" cy="251864"/>
          </a:xfrm>
          <a:prstGeom prst="rect">
            <a:avLst/>
          </a:prstGeom>
          <a:noFill/>
          <a:ln>
            <a:noFill/>
          </a:ln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sz="1200" b="1" dirty="0">
                <a:solidFill>
                  <a:srgbClr val="1C1D22"/>
                </a:solidFill>
                <a:latin typeface="Montserrat"/>
              </a:rPr>
              <a:t>HIP_ROI  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область интересов: 3 см сверху и снизу, 2 см сбоку</a:t>
            </a:r>
          </a:p>
        </p:txBody>
      </p:sp>
      <p:sp>
        <p:nvSpPr>
          <p:cNvPr id="1020154764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11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8072660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ТАКСОНОМИЯ НАРУШЕНИЙ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12559" name="Скругленный прямоугольник 11"/>
          <p:cNvSpPr/>
          <p:nvPr/>
        </p:nvSpPr>
        <p:spPr bwMode="auto">
          <a:xfrm>
            <a:off x="346075" y="324562"/>
            <a:ext cx="3768725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22206695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2720115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800" dirty="0">
                <a:solidFill>
                  <a:srgbClr val="FF0053"/>
                </a:solidFill>
                <a:latin typeface="Montserrat"/>
              </a:rPr>
              <a:t>Признаки</a:t>
            </a:r>
          </a:p>
        </p:txBody>
      </p:sp>
      <p:sp>
        <p:nvSpPr>
          <p:cNvPr id="2052221409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по каждому снимку, затем усреднение по области исследования</a:t>
            </a:r>
          </a:p>
        </p:txBody>
      </p:sp>
      <p:sp>
        <p:nvSpPr>
          <p:cNvPr id="1204058611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800" dirty="0">
                <a:solidFill>
                  <a:srgbClr val="FF0053"/>
                </a:solidFill>
                <a:latin typeface="Montserrat"/>
              </a:rPr>
              <a:t>Пороги</a:t>
            </a:r>
            <a:endParaRPr lang="ru-RU" dirty="0">
              <a:solidFill>
                <a:srgbClr val="FF0053"/>
              </a:solidFill>
              <a:latin typeface="Montserrat"/>
            </a:endParaRPr>
          </a:p>
        </p:txBody>
      </p:sp>
      <p:sp>
        <p:nvSpPr>
          <p:cNvPr id="1141059278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по F1 на </a:t>
            </a:r>
            <a:r>
              <a:rPr lang="ru-RU" sz="1600" dirty="0" err="1">
                <a:solidFill>
                  <a:srgbClr val="1C1D22"/>
                </a:solidFill>
                <a:latin typeface="Montserrat"/>
              </a:rPr>
              <a:t>out-of-fold</a:t>
            </a:r>
            <a:r>
              <a:rPr lang="ru-RU" sz="1600" dirty="0">
                <a:solidFill>
                  <a:srgbClr val="1C1D22"/>
                </a:solidFill>
                <a:latin typeface="Montserrat"/>
              </a:rPr>
              <a:t>, затем общий множитель по сбалансированной точности</a:t>
            </a:r>
          </a:p>
        </p:txBody>
      </p:sp>
      <p:sp>
        <p:nvSpPr>
          <p:cNvPr id="231324960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800" dirty="0">
                <a:solidFill>
                  <a:srgbClr val="FF0053"/>
                </a:solidFill>
                <a:latin typeface="Montserrat"/>
              </a:rPr>
              <a:t>Неуверенность</a:t>
            </a:r>
            <a:endParaRPr lang="ru-RU" dirty="0">
              <a:solidFill>
                <a:srgbClr val="FF0053"/>
              </a:solidFill>
              <a:latin typeface="Montserrat"/>
            </a:endParaRPr>
          </a:p>
        </p:txBody>
      </p:sp>
      <p:sp>
        <p:nvSpPr>
          <p:cNvPr id="211627342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|</a:t>
            </a:r>
            <a:r>
              <a:rPr lang="ru-RU" sz="1600" dirty="0" err="1">
                <a:solidFill>
                  <a:srgbClr val="1C1D22"/>
                </a:solidFill>
                <a:latin typeface="Montserrat"/>
              </a:rPr>
              <a:t>p</a:t>
            </a:r>
            <a:r>
              <a:rPr lang="ru-RU" sz="1600" dirty="0">
                <a:solidFill>
                  <a:srgbClr val="1C1D22"/>
                </a:solidFill>
                <a:latin typeface="Montserrat"/>
              </a:rPr>
              <a:t> − порог| &lt; 0,12 или область &lt; 80% → очередь врача</a:t>
            </a:r>
          </a:p>
        </p:txBody>
      </p:sp>
      <p:sp>
        <p:nvSpPr>
          <p:cNvPr id="1149809695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920653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rgbClr val="FF0053"/>
                </a:solidFill>
                <a:latin typeface="Montserrat"/>
              </a:rPr>
              <a:t>7 </a:t>
            </a:r>
            <a:r>
              <a:rPr lang="ru-RU" sz="1800" dirty="0">
                <a:solidFill>
                  <a:srgbClr val="FF0053"/>
                </a:solidFill>
                <a:latin typeface="Montserrat"/>
              </a:rPr>
              <a:t>моделей</a:t>
            </a:r>
            <a:endParaRPr lang="ru-RU" dirty="0">
              <a:solidFill>
                <a:srgbClr val="FF0053"/>
              </a:solidFill>
              <a:latin typeface="Montserrat"/>
            </a:endParaRPr>
          </a:p>
        </p:txBody>
      </p:sp>
      <p:sp>
        <p:nvSpPr>
          <p:cNvPr id="1281454000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251917"/>
            <a:ext cx="2526079" cy="112068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5 типов нарушений + итог по позвоночнику и по бедру</a:t>
            </a:r>
          </a:p>
        </p:txBody>
      </p:sp>
      <p:sp>
        <p:nvSpPr>
          <p:cNvPr id="2086022967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95914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800" dirty="0">
                <a:solidFill>
                  <a:srgbClr val="FF0053"/>
                </a:solidFill>
                <a:latin typeface="Montserrat"/>
              </a:rPr>
              <a:t>Вердикт</a:t>
            </a:r>
            <a:endParaRPr lang="ru-RU" dirty="0">
              <a:solidFill>
                <a:srgbClr val="FF0053"/>
              </a:solidFill>
              <a:latin typeface="Montserrat"/>
            </a:endParaRPr>
          </a:p>
        </p:txBody>
      </p:sp>
      <p:sp>
        <p:nvSpPr>
          <p:cNvPr id="958422470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251916"/>
            <a:ext cx="2526079" cy="112068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нарушение, если </a:t>
            </a:r>
            <a:r>
              <a:rPr lang="ru-RU" sz="1600" dirty="0" err="1">
                <a:solidFill>
                  <a:srgbClr val="1C1D22"/>
                </a:solidFill>
                <a:latin typeface="Montserrat"/>
              </a:rPr>
              <a:t>p</a:t>
            </a:r>
            <a:r>
              <a:rPr lang="ru-RU" sz="1600" dirty="0">
                <a:solidFill>
                  <a:srgbClr val="1C1D22"/>
                </a:solidFill>
                <a:latin typeface="Montserrat"/>
              </a:rPr>
              <a:t> ≥ порога; исследование — по всем областям</a:t>
            </a:r>
          </a:p>
        </p:txBody>
      </p:sp>
      <p:cxnSp>
        <p:nvCxnSpPr>
          <p:cNvPr id="2077121484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871006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1563185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557572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8004331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268142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388706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298193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399301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2757955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latin typeface="Montserrat"/>
              </a:rPr>
              <a:t>1</a:t>
            </a:r>
            <a:endParaRPr/>
          </a:p>
        </p:txBody>
      </p:sp>
      <p:sp>
        <p:nvSpPr>
          <p:cNvPr id="1893552170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latin typeface="Montserrat"/>
              </a:rPr>
              <a:t>2</a:t>
            </a:r>
            <a:endParaRPr/>
          </a:p>
        </p:txBody>
      </p:sp>
      <p:sp>
        <p:nvSpPr>
          <p:cNvPr id="318648775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latin typeface="Montserrat"/>
              </a:rPr>
              <a:t>3</a:t>
            </a:r>
            <a:endParaRPr/>
          </a:p>
        </p:txBody>
      </p:sp>
      <p:sp>
        <p:nvSpPr>
          <p:cNvPr id="1561471176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latin typeface="Montserrat"/>
              </a:rPr>
              <a:t>4</a:t>
            </a:r>
            <a:endParaRPr/>
          </a:p>
        </p:txBody>
      </p:sp>
      <p:sp>
        <p:nvSpPr>
          <p:cNvPr id="359935978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latin typeface="Montserrat"/>
              </a:rPr>
              <a:t>5</a:t>
            </a:r>
            <a:endParaRPr/>
          </a:p>
        </p:txBody>
      </p:sp>
      <p:sp>
        <p:nvSpPr>
          <p:cNvPr id="167796278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КАК ПРИНИМАЕТСЯ РЕШЕНИЕ</a:t>
            </a:r>
          </a:p>
        </p:txBody>
      </p:sp>
      <p:sp>
        <p:nvSpPr>
          <p:cNvPr id="1043008459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36704765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953907698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124485650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991086924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204793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7343363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823963366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ИТОГ ПО ИССЛЕДОВАНИЮ</a:t>
            </a:r>
          </a:p>
        </p:txBody>
      </p:sp>
      <p:sp>
        <p:nvSpPr>
          <p:cNvPr id="1823963367" name="TextBox 1823963366"/>
          <p:cNvSpPr txBox="1"/>
          <p:nvPr/>
        </p:nvSpPr>
        <p:spPr>
          <a:xfrm>
            <a:off x="623888" y="1706279"/>
            <a:ext cx="2547404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F0053"/>
                </a:solidFill>
                <a:latin typeface="Montserrat"/>
              </a:rPr>
              <a:t>0,96</a:t>
            </a:r>
          </a:p>
        </p:txBody>
      </p:sp>
      <p:sp>
        <p:nvSpPr>
          <p:cNvPr id="1823963368" name="TextBox 1823963367"/>
          <p:cNvSpPr txBox="1"/>
          <p:nvPr/>
        </p:nvSpPr>
        <p:spPr>
          <a:xfrm>
            <a:off x="623888" y="2706279"/>
            <a:ext cx="2547404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1D22"/>
                </a:solidFill>
                <a:latin typeface="Montserrat"/>
              </a:rPr>
              <a:t>Чувствительность</a:t>
            </a:r>
          </a:p>
        </p:txBody>
      </p:sp>
      <p:sp>
        <p:nvSpPr>
          <p:cNvPr id="1823963369" name="TextBox 1823963368"/>
          <p:cNvSpPr txBox="1"/>
          <p:nvPr/>
        </p:nvSpPr>
        <p:spPr>
          <a:xfrm>
            <a:off x="623888" y="3256279"/>
            <a:ext cx="2547404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5B66"/>
                </a:solidFill>
                <a:latin typeface="Montserrat"/>
              </a:rPr>
              <a:t>95% ДИ: 0,90–1,00</a:t>
            </a:r>
          </a:p>
        </p:txBody>
      </p:sp>
      <p:sp>
        <p:nvSpPr>
          <p:cNvPr id="1823963370" name="TextBox 1823963369"/>
          <p:cNvSpPr txBox="1"/>
          <p:nvPr/>
        </p:nvSpPr>
        <p:spPr>
          <a:xfrm>
            <a:off x="3321292" y="1706279"/>
            <a:ext cx="2547404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520978"/>
                </a:solidFill>
                <a:latin typeface="Montserrat"/>
              </a:rPr>
              <a:t>0,75</a:t>
            </a:r>
          </a:p>
        </p:txBody>
      </p:sp>
      <p:sp>
        <p:nvSpPr>
          <p:cNvPr id="1823963371" name="TextBox 1823963370"/>
          <p:cNvSpPr txBox="1"/>
          <p:nvPr/>
        </p:nvSpPr>
        <p:spPr>
          <a:xfrm>
            <a:off x="3321292" y="2706279"/>
            <a:ext cx="2547404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1D22"/>
                </a:solidFill>
                <a:latin typeface="Montserrat"/>
              </a:rPr>
              <a:t>F1-мера</a:t>
            </a:r>
          </a:p>
        </p:txBody>
      </p:sp>
      <p:sp>
        <p:nvSpPr>
          <p:cNvPr id="1823963372" name="TextBox 1823963371"/>
          <p:cNvSpPr txBox="1"/>
          <p:nvPr/>
        </p:nvSpPr>
        <p:spPr>
          <a:xfrm>
            <a:off x="3321292" y="3256279"/>
            <a:ext cx="2547404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5B66"/>
                </a:solidFill>
                <a:latin typeface="Montserrat"/>
              </a:rPr>
              <a:t>95% ДИ: 0,67–0,83</a:t>
            </a:r>
          </a:p>
        </p:txBody>
      </p:sp>
      <p:sp>
        <p:nvSpPr>
          <p:cNvPr id="1823963373" name="TextBox 1823963372"/>
          <p:cNvSpPr txBox="1"/>
          <p:nvPr/>
        </p:nvSpPr>
        <p:spPr>
          <a:xfrm>
            <a:off x="6018696" y="1706279"/>
            <a:ext cx="2547404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520978"/>
                </a:solidFill>
                <a:latin typeface="Montserrat"/>
              </a:rPr>
              <a:t>0,68</a:t>
            </a:r>
          </a:p>
        </p:txBody>
      </p:sp>
      <p:sp>
        <p:nvSpPr>
          <p:cNvPr id="1823963374" name="TextBox 1823963373"/>
          <p:cNvSpPr txBox="1"/>
          <p:nvPr/>
        </p:nvSpPr>
        <p:spPr>
          <a:xfrm>
            <a:off x="6018696" y="2706279"/>
            <a:ext cx="2547404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1D22"/>
                </a:solidFill>
                <a:latin typeface="Montserrat"/>
              </a:rPr>
              <a:t>Сбалансированная точность</a:t>
            </a:r>
          </a:p>
        </p:txBody>
      </p:sp>
      <p:sp>
        <p:nvSpPr>
          <p:cNvPr id="1823963375" name="TextBox 1823963374"/>
          <p:cNvSpPr txBox="1"/>
          <p:nvPr/>
        </p:nvSpPr>
        <p:spPr>
          <a:xfrm>
            <a:off x="6018696" y="3256279"/>
            <a:ext cx="2547404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5B66"/>
                </a:solidFill>
                <a:latin typeface="Montserrat"/>
              </a:rPr>
              <a:t>95% ДИ: 0,60–0,75</a:t>
            </a:r>
          </a:p>
        </p:txBody>
      </p:sp>
      <p:sp>
        <p:nvSpPr>
          <p:cNvPr id="1823963376" name="TextBox 1823963375"/>
          <p:cNvSpPr txBox="1"/>
          <p:nvPr/>
        </p:nvSpPr>
        <p:spPr>
          <a:xfrm>
            <a:off x="8716100" y="1706279"/>
            <a:ext cx="2547404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520978"/>
                </a:solidFill>
                <a:latin typeface="Montserrat"/>
              </a:rPr>
              <a:t>0,40</a:t>
            </a:r>
          </a:p>
        </p:txBody>
      </p:sp>
      <p:sp>
        <p:nvSpPr>
          <p:cNvPr id="1823963377" name="TextBox 1823963376"/>
          <p:cNvSpPr txBox="1"/>
          <p:nvPr/>
        </p:nvSpPr>
        <p:spPr>
          <a:xfrm>
            <a:off x="8716100" y="2706279"/>
            <a:ext cx="2547404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1D22"/>
                </a:solidFill>
                <a:latin typeface="Montserrat"/>
              </a:rPr>
              <a:t>Специфичность</a:t>
            </a:r>
          </a:p>
        </p:txBody>
      </p:sp>
      <p:sp>
        <p:nvSpPr>
          <p:cNvPr id="1823963378" name="TextBox 1823963377"/>
          <p:cNvSpPr txBox="1"/>
          <p:nvPr/>
        </p:nvSpPr>
        <p:spPr>
          <a:xfrm>
            <a:off x="8716100" y="3256279"/>
            <a:ext cx="2547404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5B66"/>
                </a:solidFill>
                <a:latin typeface="Montserrat"/>
              </a:rPr>
              <a:t>95% ДИ: 0,27–0,54</a:t>
            </a:r>
          </a:p>
        </p:txBody>
      </p:sp>
      <p:sp>
        <p:nvSpPr>
          <p:cNvPr id="1823963379" name="TextBox 1823963378"/>
          <p:cNvSpPr txBox="1"/>
          <p:nvPr/>
        </p:nvSpPr>
        <p:spPr>
          <a:xfrm>
            <a:off x="623888" y="3856279"/>
            <a:ext cx="10789619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520978"/>
                </a:solidFill>
                <a:latin typeface="+mj-lt"/>
              </a:rPr>
              <a:t>Из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50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некачественных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исследований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найдено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48.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Из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50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качественных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20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сразу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признаны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качественными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,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остальные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30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отправлены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врачу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на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перепроверку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,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а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не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на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+mj-lt"/>
              </a:rPr>
              <a:t>пересъёмку</a:t>
            </a:r>
            <a:r>
              <a:rPr sz="1600" b="1" dirty="0">
                <a:solidFill>
                  <a:srgbClr val="520978"/>
                </a:solidFill>
                <a:latin typeface="+mj-lt"/>
              </a:rPr>
              <a:t>.</a:t>
            </a:r>
          </a:p>
        </p:txBody>
      </p:sp>
      <p:sp>
        <p:nvSpPr>
          <p:cNvPr id="1823963380" name="TextBox 1823963379"/>
          <p:cNvSpPr txBox="1"/>
          <p:nvPr/>
        </p:nvSpPr>
        <p:spPr>
          <a:xfrm>
            <a:off x="623888" y="4606279"/>
            <a:ext cx="1078961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1C1D22"/>
                </a:solidFill>
                <a:latin typeface="Montserrat"/>
              </a:rPr>
              <a:t>100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исследований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из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них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50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нарушениями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.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Кросс-валидация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по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исследованиям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, 5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повторов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;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интервалы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—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бутстрап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.</a:t>
            </a:r>
          </a:p>
          <a:p>
            <a:pPr algn="l"/>
            <a:r>
              <a:rPr sz="1400" b="0" dirty="0" err="1">
                <a:solidFill>
                  <a:srgbClr val="1C1D22"/>
                </a:solidFill>
                <a:latin typeface="Montserrat"/>
              </a:rPr>
              <a:t>Порог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выбран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по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принципу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«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лучше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перепроверить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чем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пропустить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»: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пропущенное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нарушение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—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это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повторный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визит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пациента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лишняя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проверка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стоит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врачу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минуту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.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Поэтому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сомнительные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случаи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идут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в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очередь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врача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не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на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пересъёмку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405086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89386938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74682946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129460" name="Скругленный прямоугольник 1"/>
          <p:cNvSpPr/>
          <p:nvPr/>
        </p:nvSpPr>
        <p:spPr bwMode="auto">
          <a:xfrm>
            <a:off x="346075" y="324562"/>
            <a:ext cx="378217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28736462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14</a:t>
            </a:fld>
            <a:endParaRPr lang="ru-RU"/>
          </a:p>
        </p:txBody>
      </p:sp>
      <p:sp>
        <p:nvSpPr>
          <p:cNvPr id="1986510855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rgbClr val="520978"/>
                </a:solidFill>
                <a:latin typeface="Montserrat"/>
              </a:rPr>
              <a:t>Лучшие: ось, укладка, артефакты</a:t>
            </a:r>
          </a:p>
        </p:txBody>
      </p:sp>
      <p:sp>
        <p:nvSpPr>
          <p:cNvPr id="1908180578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rgbClr val="1C1D22"/>
                </a:solidFill>
                <a:latin typeface="Montserrat"/>
              </a:rPr>
              <a:t>ROC-AUC 0,83–0,85, Одно правило «угол оси» даёт 0,86 — признаки отражают клинический критерий «до 5°».</a:t>
            </a:r>
          </a:p>
        </p:txBody>
      </p:sp>
      <p:sp>
        <p:nvSpPr>
          <p:cNvPr id="1663339601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rgbClr val="520978"/>
                </a:solidFill>
                <a:latin typeface="Montserrat"/>
              </a:rPr>
              <a:t>Самое трудное: ротация бедра</a:t>
            </a:r>
          </a:p>
        </p:txBody>
      </p:sp>
      <p:sp>
        <p:nvSpPr>
          <p:cNvPr id="1025586780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rgbClr val="1C1D22"/>
                </a:solidFill>
                <a:latin typeface="Montserrat"/>
              </a:rPr>
              <a:t>ROC-AUC 0,67 [0,56–0,77]. Малый вертел часто закрыт маской аппарата.</a:t>
            </a:r>
          </a:p>
        </p:txBody>
      </p:sp>
      <p:sp>
        <p:nvSpPr>
          <p:cNvPr id="347825457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rgbClr val="520978"/>
                </a:solidFill>
                <a:latin typeface="Montserrat"/>
              </a:rPr>
              <a:t>Сравнение моделей</a:t>
            </a:r>
          </a:p>
        </p:txBody>
      </p:sp>
      <p:sp>
        <p:nvSpPr>
          <p:cNvPr id="495931028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rgbClr val="1C1D22"/>
                </a:solidFill>
                <a:latin typeface="Montserrat"/>
              </a:rPr>
              <a:t>8 кандидатов на каждую проверку: логистические регрессии и ансамбли деревьев. Выбор по ROC-AUC на кросс-валидации.</a:t>
            </a:r>
          </a:p>
        </p:txBody>
      </p:sp>
      <p:graphicFrame>
        <p:nvGraphicFramePr>
          <p:cNvPr id="1873120564" name="Диаграмма 9"/>
          <p:cNvGraphicFramePr>
            <a:graphicFrameLocks/>
          </p:cNvGraphicFramePr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85789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5160000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РЕЗУЛЬТАТЫ ПО ПРОВЕРКАМ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868994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456699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15</a:t>
            </a:fld>
            <a:endParaRPr lang="ru-RU"/>
          </a:p>
        </p:txBody>
      </p:sp>
      <p:sp>
        <p:nvSpPr>
          <p:cNvPr id="232733912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6191250" cy="425729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520978"/>
                </a:solidFill>
                <a:latin typeface="Montserrat"/>
              </a:rPr>
              <a:t>МЕТРИКИ С 95% ДИ</a:t>
            </a:r>
          </a:p>
        </p:txBody>
      </p:sp>
      <p:graphicFrame>
        <p:nvGraphicFramePr>
          <p:cNvPr id="978868995" name="Table 978868994"/>
          <p:cNvGraphicFramePr>
            <a:graphicFrameLocks noGrp="1"/>
          </p:cNvGraphicFramePr>
          <p:nvPr/>
        </p:nvGraphicFramePr>
        <p:xfrm>
          <a:off x="521133" y="1323123"/>
          <a:ext cx="5905500" cy="385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142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ontserrat"/>
                        </a:rPr>
                        <a:t>Проверка</a:t>
                      </a:r>
                    </a:p>
                  </a:txBody>
                  <a:tcPr marL="60000" marR="60000" anchor="ctr"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ontserrat"/>
                        </a:rPr>
                        <a:t>ROC-AUC</a:t>
                      </a:r>
                    </a:p>
                  </a:txBody>
                  <a:tcPr marL="60000" marR="60000" anchor="ctr"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ontserrat"/>
                        </a:rPr>
                        <a:t>F1</a:t>
                      </a:r>
                    </a:p>
                  </a:txBody>
                  <a:tcPr marL="60000" marR="60000" anchor="ctr"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ontserrat"/>
                        </a:rPr>
                        <a:t>Нарушений</a:t>
                      </a:r>
                    </a:p>
                  </a:txBody>
                  <a:tcPr marL="60000" marR="60000" anchor="ctr">
                    <a:solidFill>
                      <a:srgbClr val="520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42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Укладка позвоночника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0,85 [0,60–0,99]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0,57 [0,20–0,86]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6/99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42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Ось позвоночника</a:t>
                      </a:r>
                    </a:p>
                  </a:txBody>
                  <a:tcPr marL="60000" marR="60000" anchor="ctr"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0,83 [0,73–0,92]</a:t>
                      </a:r>
                    </a:p>
                  </a:txBody>
                  <a:tcPr marL="60000" marR="60000" anchor="ctr"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0,43 [0,23–0,61]</a:t>
                      </a:r>
                    </a:p>
                  </a:txBody>
                  <a:tcPr marL="60000" marR="60000" anchor="ctr"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10/99</a:t>
                      </a:r>
                    </a:p>
                  </a:txBody>
                  <a:tcPr marL="60000" marR="60000" anchor="ctr">
                    <a:solidFill>
                      <a:srgbClr val="F4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42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Посторонние предметы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0,84 [0,70–0,96]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0,69 [0,46–0,85]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17/99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42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Позвоночник, итог</a:t>
                      </a:r>
                    </a:p>
                  </a:txBody>
                  <a:tcPr marL="60000" marR="60000" anchor="ctr"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0,79 [0,68–0,88]</a:t>
                      </a:r>
                    </a:p>
                  </a:txBody>
                  <a:tcPr marL="60000" marR="60000" anchor="ctr"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0,64 [0,51–0,75]</a:t>
                      </a:r>
                    </a:p>
                  </a:txBody>
                  <a:tcPr marL="60000" marR="60000" anchor="ctr"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32/99</a:t>
                      </a:r>
                    </a:p>
                  </a:txBody>
                  <a:tcPr marL="60000" marR="60000" anchor="ctr">
                    <a:solidFill>
                      <a:srgbClr val="F4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42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Ротация бедра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0,67 [0,56–0,77]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0,49 [0,33–0,63]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36/150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42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Область интересов бедра</a:t>
                      </a:r>
                    </a:p>
                  </a:txBody>
                  <a:tcPr marL="60000" marR="60000" anchor="ctr"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0,83 [0,63–0,97]</a:t>
                      </a:r>
                    </a:p>
                  </a:txBody>
                  <a:tcPr marL="60000" marR="60000" anchor="ctr"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0,46 [0,00–0,80]</a:t>
                      </a:r>
                    </a:p>
                  </a:txBody>
                  <a:tcPr marL="60000" marR="60000" anchor="ctr"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7/150</a:t>
                      </a:r>
                    </a:p>
                  </a:txBody>
                  <a:tcPr marL="60000" marR="60000" anchor="ctr">
                    <a:solidFill>
                      <a:srgbClr val="F4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42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Бедро, итог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0,71 [0,61–0,80]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0,54 [0,41–0,65]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41/150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78868996" name="TextBox 978868995"/>
          <p:cNvSpPr txBox="1"/>
          <p:nvPr/>
        </p:nvSpPr>
        <p:spPr>
          <a:xfrm>
            <a:off x="521133" y="5311997"/>
            <a:ext cx="619125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5B5B66"/>
                </a:solidFill>
                <a:latin typeface="Montserrat"/>
              </a:rPr>
              <a:t>macro-F1 </a:t>
            </a:r>
            <a:r>
              <a:rPr sz="1000" b="0" dirty="0" err="1">
                <a:solidFill>
                  <a:srgbClr val="5B5B66"/>
                </a:solidFill>
                <a:latin typeface="Montserrat"/>
              </a:rPr>
              <a:t>по</a:t>
            </a:r>
            <a:r>
              <a:rPr sz="1000" b="0" dirty="0">
                <a:solidFill>
                  <a:srgbClr val="5B5B66"/>
                </a:solidFill>
                <a:latin typeface="Montserrat"/>
              </a:rPr>
              <a:t> </a:t>
            </a:r>
            <a:r>
              <a:rPr sz="1000" b="0" dirty="0" err="1">
                <a:solidFill>
                  <a:srgbClr val="5B5B66"/>
                </a:solidFill>
                <a:latin typeface="Montserrat"/>
              </a:rPr>
              <a:t>пяти</a:t>
            </a:r>
            <a:r>
              <a:rPr sz="1000" b="0" dirty="0">
                <a:solidFill>
                  <a:srgbClr val="5B5B66"/>
                </a:solidFill>
                <a:latin typeface="Montserrat"/>
              </a:rPr>
              <a:t> </a:t>
            </a:r>
            <a:r>
              <a:rPr sz="1000" b="0" dirty="0" err="1">
                <a:solidFill>
                  <a:srgbClr val="5B5B66"/>
                </a:solidFill>
                <a:latin typeface="Montserrat"/>
              </a:rPr>
              <a:t>типам</a:t>
            </a:r>
            <a:r>
              <a:rPr sz="1000" b="0" dirty="0">
                <a:solidFill>
                  <a:srgbClr val="5B5B66"/>
                </a:solidFill>
                <a:latin typeface="Montserrat"/>
              </a:rPr>
              <a:t> </a:t>
            </a:r>
            <a:r>
              <a:rPr sz="1000" b="0" dirty="0" err="1">
                <a:solidFill>
                  <a:srgbClr val="5B5B66"/>
                </a:solidFill>
                <a:latin typeface="Montserrat"/>
              </a:rPr>
              <a:t>нарушений</a:t>
            </a:r>
            <a:r>
              <a:rPr sz="1000" b="0" dirty="0">
                <a:solidFill>
                  <a:srgbClr val="5B5B66"/>
                </a:solidFill>
                <a:latin typeface="Montserrat"/>
              </a:rPr>
              <a:t>: 0,53</a:t>
            </a:r>
          </a:p>
          <a:p>
            <a:pPr algn="l"/>
            <a:r>
              <a:rPr sz="1000" b="0" dirty="0" err="1">
                <a:solidFill>
                  <a:srgbClr val="5B5B66"/>
                </a:solidFill>
                <a:latin typeface="Montserrat"/>
              </a:rPr>
              <a:t>Кросс-валидация</a:t>
            </a:r>
            <a:r>
              <a:rPr sz="1000" b="0" dirty="0">
                <a:solidFill>
                  <a:srgbClr val="5B5B66"/>
                </a:solidFill>
                <a:latin typeface="Montserrat"/>
              </a:rPr>
              <a:t> </a:t>
            </a:r>
            <a:r>
              <a:rPr sz="1000" b="0" dirty="0" err="1">
                <a:solidFill>
                  <a:srgbClr val="5B5B66"/>
                </a:solidFill>
                <a:latin typeface="Montserrat"/>
              </a:rPr>
              <a:t>по</a:t>
            </a:r>
            <a:r>
              <a:rPr sz="1000" b="0" dirty="0">
                <a:solidFill>
                  <a:srgbClr val="5B5B66"/>
                </a:solidFill>
                <a:latin typeface="Montserrat"/>
              </a:rPr>
              <a:t> </a:t>
            </a:r>
            <a:r>
              <a:rPr sz="1000" b="0" dirty="0" err="1">
                <a:solidFill>
                  <a:srgbClr val="5B5B66"/>
                </a:solidFill>
                <a:latin typeface="Montserrat"/>
              </a:rPr>
              <a:t>исследованиям</a:t>
            </a:r>
            <a:r>
              <a:rPr sz="1000" b="0" dirty="0">
                <a:solidFill>
                  <a:srgbClr val="5B5B66"/>
                </a:solidFill>
                <a:latin typeface="Montserrat"/>
              </a:rPr>
              <a:t>; ДИ — </a:t>
            </a:r>
            <a:r>
              <a:rPr sz="1000" b="0" dirty="0" err="1">
                <a:solidFill>
                  <a:srgbClr val="5B5B66"/>
                </a:solidFill>
                <a:latin typeface="Montserrat"/>
              </a:rPr>
              <a:t>кластерный</a:t>
            </a:r>
            <a:r>
              <a:rPr sz="1000" b="0" dirty="0">
                <a:solidFill>
                  <a:srgbClr val="5B5B66"/>
                </a:solidFill>
                <a:latin typeface="Montserrat"/>
              </a:rPr>
              <a:t> </a:t>
            </a:r>
            <a:r>
              <a:rPr sz="1000" b="0" dirty="0" err="1">
                <a:solidFill>
                  <a:srgbClr val="5B5B66"/>
                </a:solidFill>
                <a:latin typeface="Montserrat"/>
              </a:rPr>
              <a:t>бутстрап</a:t>
            </a:r>
            <a:r>
              <a:rPr sz="1000" b="0" dirty="0">
                <a:solidFill>
                  <a:srgbClr val="5B5B66"/>
                </a:solidFill>
                <a:latin typeface="Montserrat"/>
              </a:rPr>
              <a:t>, 1000 </a:t>
            </a:r>
            <a:r>
              <a:rPr sz="1000" b="0" dirty="0" err="1">
                <a:solidFill>
                  <a:srgbClr val="5B5B66"/>
                </a:solidFill>
                <a:latin typeface="Montserrat"/>
              </a:rPr>
              <a:t>выборок</a:t>
            </a:r>
            <a:r>
              <a:rPr sz="1000" b="0" dirty="0">
                <a:solidFill>
                  <a:srgbClr val="5B5B66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2835" name="Скругленный прямоугольник 9"/>
          <p:cNvSpPr/>
          <p:nvPr/>
        </p:nvSpPr>
        <p:spPr bwMode="auto">
          <a:xfrm>
            <a:off x="346075" y="324562"/>
            <a:ext cx="442763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9754453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0861248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3874592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33497077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5532861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96702583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Montserrat"/>
              </a:rPr>
              <a:t>Мало данных</a:t>
            </a:r>
          </a:p>
        </p:txBody>
      </p:sp>
      <p:sp>
        <p:nvSpPr>
          <p:cNvPr id="138619797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6–36 примеров на нарушение — отсюда широкие интервалы. Модель выбиралась на той же кросс-валидации: цифры слегка оптимистичны.</a:t>
            </a:r>
          </a:p>
        </p:txBody>
      </p:sp>
      <p:sp>
        <p:nvSpPr>
          <p:cNvPr id="144489593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Montserrat"/>
              </a:rPr>
              <a:t>Ротация бедра</a:t>
            </a:r>
          </a:p>
        </p:txBody>
      </p:sp>
      <p:sp>
        <p:nvSpPr>
          <p:cNvPr id="214318722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Главный источник пропусков: сигнал малого вертела шумный, AUC 0,67. Решение — сегментация и ключевые точки.</a:t>
            </a:r>
          </a:p>
        </p:txBody>
      </p:sp>
      <p:sp>
        <p:nvSpPr>
          <p:cNvPr id="1204859240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Montserrat"/>
              </a:rPr>
              <a:t>Ложные тревоги</a:t>
            </a:r>
          </a:p>
        </p:txBody>
      </p:sp>
      <p:sp>
        <p:nvSpPr>
          <p:cNvPr id="581874941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Специфичность 0,40: система перестраховывается. Сомнительные случаи уходят врачу, а не на пересъёмку.</a:t>
            </a:r>
          </a:p>
        </p:txBody>
      </p:sp>
      <p:sp>
        <p:nvSpPr>
          <p:cNvPr id="1782957241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Montserrat"/>
              </a:rPr>
              <a:t>Другие аппараты</a:t>
            </a:r>
          </a:p>
        </p:txBody>
      </p:sp>
      <p:sp>
        <p:nvSpPr>
          <p:cNvPr id="711149997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Классификатор области обучен без учителя на данных одного типа. На новых аппаратах — проверка и дообучение.</a:t>
            </a:r>
          </a:p>
        </p:txBody>
      </p:sp>
      <p:sp>
        <p:nvSpPr>
          <p:cNvPr id="6219396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АНАЛИЗ ОШИБОК И ОГРАНИЧЕНИЯ</a:t>
            </a:r>
          </a:p>
        </p:txBody>
      </p:sp>
      <p:sp>
        <p:nvSpPr>
          <p:cNvPr id="124319577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1119025481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158756031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1591282118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956401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520978"/>
                </a:solidFill>
                <a:latin typeface="Montserrat"/>
              </a:rPr>
              <a:t>СКОРОСТЬ И ТРЕБОВАНИЯ</a:t>
            </a:r>
          </a:p>
        </p:txBody>
      </p:sp>
      <p:sp>
        <p:nvSpPr>
          <p:cNvPr id="1724479898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3429000" cy="712587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rgbClr val="520978"/>
                </a:solidFill>
                <a:latin typeface="Montserrat"/>
              </a:rPr>
              <a:t>Скорость</a:t>
            </a:r>
          </a:p>
        </p:txBody>
      </p:sp>
      <p:sp>
        <p:nvSpPr>
          <p:cNvPr id="2116702665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3429000" cy="712587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rgbClr val="520978"/>
                </a:solidFill>
                <a:latin typeface="Montserrat"/>
              </a:rPr>
              <a:t>Оборудование</a:t>
            </a:r>
          </a:p>
        </p:txBody>
      </p:sp>
      <p:sp>
        <p:nvSpPr>
          <p:cNvPr id="187558627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3429000" cy="712587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rgbClr val="520978"/>
                </a:solidFill>
                <a:latin typeface="Montserrat"/>
              </a:rPr>
              <a:t>Память</a:t>
            </a:r>
          </a:p>
        </p:txBody>
      </p:sp>
      <p:sp>
        <p:nvSpPr>
          <p:cNvPr id="125220351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3429000" cy="712587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rgbClr val="520978"/>
                </a:solidFill>
                <a:latin typeface="Montserrat"/>
              </a:rPr>
              <a:t>Масштабирование</a:t>
            </a:r>
          </a:p>
        </p:txBody>
      </p:sp>
      <p:sp>
        <p:nvSpPr>
          <p:cNvPr id="963052402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3429000" cy="712587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rgbClr val="520978"/>
                </a:solidFill>
                <a:latin typeface="Montserrat"/>
              </a:rPr>
              <a:t>Надёжность</a:t>
            </a:r>
          </a:p>
        </p:txBody>
      </p:sp>
      <p:sp>
        <p:nvSpPr>
          <p:cNvPr id="1679706664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5442323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0572444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3043648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1775187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7082404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20572445" name="TextBox 2120572444"/>
          <p:cNvSpPr txBox="1"/>
          <p:nvPr/>
        </p:nvSpPr>
        <p:spPr>
          <a:xfrm>
            <a:off x="4000500" y="1695025"/>
            <a:ext cx="7905750" cy="7125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1,9 с на исследование в среднем (0,33 с на снимок), максимум 8,9 с на 29 снимках. Требование ТЗ — до 3 минут.</a:t>
            </a:r>
          </a:p>
        </p:txBody>
      </p:sp>
      <p:sp>
        <p:nvSpPr>
          <p:cNvPr id="2120572446" name="TextBox 2120572445"/>
          <p:cNvSpPr txBox="1"/>
          <p:nvPr/>
        </p:nvSpPr>
        <p:spPr>
          <a:xfrm>
            <a:off x="4000500" y="2552035"/>
            <a:ext cx="7905750" cy="7125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Только CPU, GPU не нужен. Пакетная обработка: 1 vCPU и 1 ГБ RAM. Вся платформа: рекомендуем 2 vCPU и 4 ГБ RAM.</a:t>
            </a:r>
          </a:p>
        </p:txBody>
      </p:sp>
      <p:sp>
        <p:nvSpPr>
          <p:cNvPr id="2120572447" name="TextBox 2120572446"/>
          <p:cNvSpPr txBox="1"/>
          <p:nvPr/>
        </p:nvSpPr>
        <p:spPr>
          <a:xfrm>
            <a:off x="4000500" y="3409044"/>
            <a:ext cx="7905750" cy="7125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ML-сервис с моделью ≈ 215 МБ, core ≈ 90 МБ, PostgreSQL ≈ 50 МБ. Образ пакетной обработки ≈ 0,7 ГБ.</a:t>
            </a:r>
          </a:p>
        </p:txBody>
      </p:sp>
      <p:sp>
        <p:nvSpPr>
          <p:cNvPr id="2120572448" name="TextBox 2120572447"/>
          <p:cNvSpPr txBox="1"/>
          <p:nvPr/>
        </p:nvSpPr>
        <p:spPr>
          <a:xfrm>
            <a:off x="4000500" y="4266053"/>
            <a:ext cx="7905750" cy="7125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На целевой конфигурации (44 CPU) пакет параллелится по исследованиям.</a:t>
            </a:r>
          </a:p>
        </p:txBody>
      </p:sp>
      <p:sp>
        <p:nvSpPr>
          <p:cNvPr id="2120572449" name="TextBox 2120572448"/>
          <p:cNvSpPr txBox="1"/>
          <p:nvPr/>
        </p:nvSpPr>
        <p:spPr>
          <a:xfrm>
            <a:off x="4000500" y="5123063"/>
            <a:ext cx="7905750" cy="7125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Ошибка на снимке не останавливает пакет — статус Failure в отчёте. Сиды и версии зафиксированы.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99634" name="Скругленный прямоугольник 1"/>
          <p:cNvSpPr/>
          <p:nvPr/>
        </p:nvSpPr>
        <p:spPr bwMode="auto">
          <a:xfrm>
            <a:off x="346075" y="324562"/>
            <a:ext cx="2397125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1909465028" name="Group 82"/>
          <p:cNvGrpSpPr>
            <a:grpSpLocks noChangeAspect="1"/>
          </p:cNvGrpSpPr>
          <p:nvPr/>
        </p:nvGrpSpPr>
        <p:grpSpPr bwMode="auto">
          <a:xfrm>
            <a:off x="768802" y="1408005"/>
            <a:ext cx="5113541" cy="3382216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localhost:3000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1358569827" name="Group 82"/>
          <p:cNvGrpSpPr>
            <a:grpSpLocks noChangeAspect="1"/>
          </p:cNvGrpSpPr>
          <p:nvPr/>
        </p:nvGrpSpPr>
        <p:grpSpPr bwMode="auto">
          <a:xfrm>
            <a:off x="6413700" y="1408005"/>
            <a:ext cx="5113541" cy="3382216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localhost:3000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2038184895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633967285" name="Текст 2"/>
          <p:cNvSpPr>
            <a:spLocks noGrp="1"/>
          </p:cNvSpPr>
          <p:nvPr>
            <p:ph type="body" sz="quarter" idx="15"/>
          </p:nvPr>
        </p:nvSpPr>
        <p:spPr bwMode="auto">
          <a:xfrm>
            <a:off x="1227711" y="5021440"/>
            <a:ext cx="4121687" cy="95555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400" b="1" dirty="0">
                <a:solidFill>
                  <a:srgbClr val="1C1D22"/>
                </a:solidFill>
                <a:latin typeface="Montserrat"/>
              </a:rPr>
              <a:t>Карточка исследования. </a:t>
            </a:r>
            <a:r>
              <a:rPr lang="ru-RU" sz="1400" b="0" dirty="0">
                <a:solidFill>
                  <a:srgbClr val="1C1D22"/>
                </a:solidFill>
                <a:latin typeface="Montserrat"/>
              </a:rPr>
              <a:t>Вердикт по областям, ось и посторонние объекты на снимке, вероятность относительно порога, «как исправить», заключение врача.</a:t>
            </a:r>
          </a:p>
        </p:txBody>
      </p:sp>
      <p:sp>
        <p:nvSpPr>
          <p:cNvPr id="195660804" name="Текст 3"/>
          <p:cNvSpPr>
            <a:spLocks noGrp="1"/>
          </p:cNvSpPr>
          <p:nvPr>
            <p:ph type="body" sz="quarter" idx="16"/>
          </p:nvPr>
        </p:nvSpPr>
        <p:spPr bwMode="auto">
          <a:xfrm>
            <a:off x="6875018" y="5021440"/>
            <a:ext cx="4121687" cy="95555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400" b="1" dirty="0">
                <a:solidFill>
                  <a:srgbClr val="1C1D22"/>
                </a:solidFill>
                <a:latin typeface="Montserrat"/>
              </a:rPr>
              <a:t>Сводка заведующего. </a:t>
            </a:r>
            <a:r>
              <a:rPr lang="ru-RU" sz="1400" b="0" dirty="0">
                <a:solidFill>
                  <a:srgbClr val="1C1D22"/>
                </a:solidFill>
                <a:latin typeface="Montserrat"/>
              </a:rPr>
              <a:t>Доля качественных, разбор врачом, согласие врача с системой, частые нарушения, лаборанты, которым нужен разбор укладки.</a:t>
            </a:r>
          </a:p>
        </p:txBody>
      </p:sp>
      <p:pic>
        <p:nvPicPr>
          <p:cNvPr id="823776362" name="Рисунок 4" descr="d_study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3" b="3"/>
          <a:stretch>
            <a:fillRect/>
          </a:stretch>
        </p:blipFill>
        <p:spPr>
          <a:xfrm>
            <a:off x="906792" y="1953063"/>
            <a:ext cx="4844445" cy="2684481"/>
          </a:xfrm>
        </p:spPr>
      </p:pic>
      <p:pic>
        <p:nvPicPr>
          <p:cNvPr id="1753401736" name="Рисунок 5" descr="d_dashboard.png"/>
          <p:cNvPicPr>
            <a:picLocks noGrp="1" noChangeAspect="1"/>
          </p:cNvPicPr>
          <p:nvPr>
            <p:ph type="pic" sz="quarter" idx="18"/>
          </p:nvPr>
        </p:nvPicPr>
        <p:blipFill>
          <a:blip r:embed="rId5"/>
          <a:srcRect t="3" b="3"/>
          <a:stretch>
            <a:fillRect/>
          </a:stretch>
        </p:blipFill>
        <p:spPr>
          <a:xfrm>
            <a:off x="6537104" y="1997233"/>
            <a:ext cx="4844445" cy="2684481"/>
          </a:xfrm>
        </p:spPr>
      </p:pic>
      <p:sp>
        <p:nvSpPr>
          <p:cNvPr id="152904917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ДЕМОНСТРАЦИЯ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025988" name="Скругленный прямоугольник 11"/>
          <p:cNvSpPr/>
          <p:nvPr/>
        </p:nvSpPr>
        <p:spPr bwMode="auto"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120711838" name="Скругленный прямоугольник 13"/>
          <p:cNvSpPr/>
          <p:nvPr/>
        </p:nvSpPr>
        <p:spPr bwMode="auto"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32922410" name="Скругленный прямоугольник 14"/>
          <p:cNvSpPr/>
          <p:nvPr/>
        </p:nvSpPr>
        <p:spPr bwMode="auto"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91550296" name="Скругленный прямоугольник 15"/>
          <p:cNvSpPr/>
          <p:nvPr/>
        </p:nvSpPr>
        <p:spPr bwMode="auto"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710614735" name="Скругленный прямоугольник 9"/>
          <p:cNvSpPr/>
          <p:nvPr/>
        </p:nvSpPr>
        <p:spPr bwMode="auto">
          <a:xfrm>
            <a:off x="346075" y="324562"/>
            <a:ext cx="501930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993056816" name="Рисунок 1" descr="m1_login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21" r="21"/>
          <a:stretch>
            <a:fillRect/>
          </a:stretch>
        </p:blipFill>
        <p:spPr>
          <a:xfrm>
            <a:off x="1044000" y="1139854"/>
            <a:ext cx="1726214" cy="3657600"/>
          </a:xfrm>
        </p:spPr>
      </p:pic>
      <p:pic>
        <p:nvPicPr>
          <p:cNvPr id="748811928" name="Рисунок 2" descr="m2_upload.png"/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 l="21" r="21"/>
          <a:stretch>
            <a:fillRect/>
          </a:stretch>
        </p:blipFill>
        <p:spPr>
          <a:xfrm>
            <a:off x="3780000" y="1152000"/>
            <a:ext cx="1726214" cy="3657600"/>
          </a:xfrm>
        </p:spPr>
      </p:pic>
      <p:pic>
        <p:nvPicPr>
          <p:cNvPr id="1262381782" name="Рисунок 3" descr="m3_study.png"/>
          <p:cNvPicPr>
            <a:picLocks noGrp="1" noChangeAspect="1"/>
          </p:cNvPicPr>
          <p:nvPr>
            <p:ph type="pic" sz="quarter" idx="16"/>
          </p:nvPr>
        </p:nvPicPr>
        <p:blipFill>
          <a:blip r:embed="rId6"/>
          <a:srcRect l="21" r="21"/>
          <a:stretch>
            <a:fillRect/>
          </a:stretch>
        </p:blipFill>
        <p:spPr>
          <a:xfrm>
            <a:off x="6768000" y="1152000"/>
            <a:ext cx="1726214" cy="3657600"/>
          </a:xfrm>
        </p:spPr>
      </p:pic>
      <p:pic>
        <p:nvPicPr>
          <p:cNvPr id="1781532782" name="Рисунок 4" descr="m4_dashboard.png"/>
          <p:cNvPicPr>
            <a:picLocks noGrp="1" noChangeAspect="1"/>
          </p:cNvPicPr>
          <p:nvPr>
            <p:ph type="pic" sz="quarter" idx="17"/>
          </p:nvPr>
        </p:nvPicPr>
        <p:blipFill>
          <a:blip r:embed="rId7"/>
          <a:srcRect l="21" r="21"/>
          <a:stretch>
            <a:fillRect/>
          </a:stretch>
        </p:blipFill>
        <p:spPr>
          <a:xfrm>
            <a:off x="9612000" y="1116000"/>
            <a:ext cx="1726214" cy="3657600"/>
          </a:xfrm>
        </p:spPr>
      </p:pic>
      <p:sp>
        <p:nvSpPr>
          <p:cNvPr id="1405703424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19</a:t>
            </a:fld>
            <a:endParaRPr lang="ru-RU"/>
          </a:p>
        </p:txBody>
      </p:sp>
      <p:sp>
        <p:nvSpPr>
          <p:cNvPr id="682164058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449155" y="5035451"/>
            <a:ext cx="2658088" cy="127134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 b="1" dirty="0">
                <a:solidFill>
                  <a:srgbClr val="1C1D22"/>
                </a:solidFill>
                <a:latin typeface="Montserrat"/>
              </a:rPr>
              <a:t>Вход</a:t>
            </a:r>
          </a:p>
          <a:p>
            <a:pPr marL="0" indent="0">
              <a:buNone/>
              <a:defRPr/>
            </a:pPr>
            <a:r>
              <a:rPr lang="ru-RU" sz="1400" b="0" dirty="0">
                <a:solidFill>
                  <a:srgbClr val="1C1D22"/>
                </a:solidFill>
                <a:latin typeface="Montserrat"/>
              </a:rPr>
              <a:t>по паролю или через Госуслуги</a:t>
            </a:r>
          </a:p>
        </p:txBody>
      </p:sp>
      <p:sp>
        <p:nvSpPr>
          <p:cNvPr id="425607224" name="Текст 6"/>
          <p:cNvSpPr>
            <a:spLocks noGrp="1"/>
          </p:cNvSpPr>
          <p:nvPr>
            <p:ph type="body" sz="quarter" idx="19"/>
          </p:nvPr>
        </p:nvSpPr>
        <p:spPr bwMode="auto">
          <a:xfrm>
            <a:off x="3302624" y="5035451"/>
            <a:ext cx="2706185" cy="127134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 b="1" dirty="0">
                <a:solidFill>
                  <a:srgbClr val="1C1D22"/>
                </a:solidFill>
                <a:latin typeface="Montserrat"/>
              </a:rPr>
              <a:t>Загрузка</a:t>
            </a:r>
            <a:endParaRPr lang="ru-RU" sz="1400" b="1" dirty="0">
              <a:solidFill>
                <a:srgbClr val="1C1D22"/>
              </a:solidFill>
              <a:latin typeface="Montserrat"/>
            </a:endParaRPr>
          </a:p>
          <a:p>
            <a:pPr marL="0" indent="0">
              <a:buNone/>
              <a:defRPr/>
            </a:pPr>
            <a:r>
              <a:rPr lang="ru-RU" sz="1400" b="0" dirty="0">
                <a:solidFill>
                  <a:srgbClr val="1C1D22"/>
                </a:solidFill>
                <a:latin typeface="Montserrat"/>
              </a:rPr>
              <a:t>снимки сразу после сканирования</a:t>
            </a:r>
          </a:p>
        </p:txBody>
      </p:sp>
      <p:sp>
        <p:nvSpPr>
          <p:cNvPr id="194920797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204192" y="5035451"/>
            <a:ext cx="2728103" cy="127134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 b="1" dirty="0">
                <a:solidFill>
                  <a:srgbClr val="1C1D22"/>
                </a:solidFill>
                <a:latin typeface="Montserrat"/>
              </a:rPr>
              <a:t>Вердикт</a:t>
            </a:r>
            <a:endParaRPr lang="ru-RU" sz="1400" b="1" dirty="0">
              <a:solidFill>
                <a:srgbClr val="1C1D22"/>
              </a:solidFill>
              <a:latin typeface="Montserrat"/>
            </a:endParaRPr>
          </a:p>
          <a:p>
            <a:pPr marL="0" indent="0">
              <a:buNone/>
              <a:defRPr/>
            </a:pPr>
            <a:r>
              <a:rPr lang="ru-RU" sz="1400" b="0" dirty="0">
                <a:solidFill>
                  <a:srgbClr val="1C1D22"/>
                </a:solidFill>
                <a:latin typeface="Montserrat"/>
              </a:rPr>
              <a:t>нарушение видно на снимке</a:t>
            </a:r>
          </a:p>
        </p:txBody>
      </p:sp>
      <p:sp>
        <p:nvSpPr>
          <p:cNvPr id="1263043432" name="Текст 8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5035451"/>
            <a:ext cx="2739248" cy="127134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 b="1" dirty="0">
                <a:solidFill>
                  <a:srgbClr val="1C1D22"/>
                </a:solidFill>
                <a:latin typeface="Montserrat"/>
              </a:rPr>
              <a:t>Сводка</a:t>
            </a:r>
            <a:endParaRPr lang="ru-RU" sz="1400" b="1" dirty="0">
              <a:solidFill>
                <a:srgbClr val="1C1D22"/>
              </a:solidFill>
              <a:latin typeface="Montserrat"/>
            </a:endParaRPr>
          </a:p>
          <a:p>
            <a:pPr marL="0" indent="0">
              <a:buNone/>
              <a:defRPr/>
            </a:pPr>
            <a:r>
              <a:rPr lang="ru-RU" sz="1400" b="0" dirty="0">
                <a:solidFill>
                  <a:srgbClr val="1C1D22"/>
                </a:solidFill>
                <a:latin typeface="Montserrat"/>
              </a:rPr>
              <a:t>качество отделения в кольцах</a:t>
            </a:r>
          </a:p>
        </p:txBody>
      </p:sp>
      <p:grpSp>
        <p:nvGrpSpPr>
          <p:cNvPr id="504883843" name="Группа 121"/>
          <p:cNvGrpSpPr/>
          <p:nvPr/>
        </p:nvGrpSpPr>
        <p:grpSpPr bwMode="auto"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42" name="Рисунок 141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1597176582" name="Группа 146"/>
          <p:cNvGrpSpPr/>
          <p:nvPr/>
        </p:nvGrpSpPr>
        <p:grpSpPr bwMode="auto"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67" name="Рисунок 166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1888871413" name="Группа 171"/>
          <p:cNvGrpSpPr/>
          <p:nvPr/>
        </p:nvGrpSpPr>
        <p:grpSpPr bwMode="auto"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92" name="Рисунок 191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320413447" name="Группа 196"/>
          <p:cNvGrpSpPr/>
          <p:nvPr/>
        </p:nvGrpSpPr>
        <p:grpSpPr bwMode="auto"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217" name="Рисунок 216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195254680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АДАПТАЦИЯ ДЛЯ МОБИЛЬНЫХ СРЕДСТВ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969249" name="Скругленный прямоугольник 1"/>
          <p:cNvSpPr/>
          <p:nvPr/>
        </p:nvSpPr>
        <p:spPr bwMode="auto">
          <a:xfrm>
            <a:off x="346075" y="324562"/>
            <a:ext cx="3002243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36933223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09585388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1553349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83780166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24292644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13233155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32006024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ru-RU" sz="2000" b="1" dirty="0">
                <a:solidFill>
                  <a:srgbClr val="1C1D22"/>
                </a:solidFill>
                <a:latin typeface="Montserrat"/>
              </a:rPr>
              <a:t>./</a:t>
            </a:r>
            <a:r>
              <a:rPr lang="ru-RU" sz="2000" b="1" dirty="0" err="1">
                <a:solidFill>
                  <a:srgbClr val="1C1D22"/>
                </a:solidFill>
                <a:latin typeface="Montserrat"/>
              </a:rPr>
              <a:t>run_batch.sh</a:t>
            </a:r>
            <a:r>
              <a:rPr lang="ru-RU" sz="2000" b="1" dirty="0">
                <a:solidFill>
                  <a:srgbClr val="1C1D22"/>
                </a:solidFill>
                <a:latin typeface="Montserrat"/>
              </a:rPr>
              <a:t> </a:t>
            </a:r>
            <a:r>
              <a:rPr lang="ru-RU" sz="2000" b="1" dirty="0" err="1">
                <a:solidFill>
                  <a:srgbClr val="1C1D22"/>
                </a:solidFill>
                <a:latin typeface="Montserrat"/>
              </a:rPr>
              <a:t>архив.zip</a:t>
            </a:r>
            <a:endParaRPr lang="ru-RU" sz="2000" b="1" dirty="0">
              <a:solidFill>
                <a:srgbClr val="1C1D22"/>
              </a:solidFill>
              <a:latin typeface="Montserrat"/>
            </a:endParaRPr>
          </a:p>
          <a:p>
            <a:pPr algn="l">
              <a:lnSpc>
                <a:spcPct val="100000"/>
              </a:lnSpc>
              <a:defRPr/>
            </a:pPr>
            <a:r>
              <a:rPr lang="ru-RU" sz="1800" dirty="0">
                <a:solidFill>
                  <a:srgbClr val="1C1D22"/>
                </a:solidFill>
                <a:latin typeface="Montserrat"/>
              </a:rPr>
              <a:t>Контейнер запускается без сети — снимки никуда не уходят. Папка или </a:t>
            </a:r>
            <a:r>
              <a:rPr lang="ru-RU" sz="1800" dirty="0" err="1">
                <a:solidFill>
                  <a:srgbClr val="1C1D22"/>
                </a:solidFill>
                <a:latin typeface="Montserrat"/>
              </a:rPr>
              <a:t>zip</a:t>
            </a:r>
            <a:r>
              <a:rPr lang="ru-RU" sz="1800" dirty="0">
                <a:solidFill>
                  <a:srgbClr val="1C1D22"/>
                </a:solidFill>
                <a:latin typeface="Montserrat"/>
              </a:rPr>
              <a:t> любой вложенности, группировка по </a:t>
            </a:r>
            <a:r>
              <a:rPr lang="ru-RU" sz="1800" dirty="0" err="1">
                <a:solidFill>
                  <a:srgbClr val="1C1D22"/>
                </a:solidFill>
                <a:latin typeface="Montserrat"/>
              </a:rPr>
              <a:t>StudyInstanceUID</a:t>
            </a:r>
            <a:r>
              <a:rPr lang="ru-RU" sz="1800" dirty="0">
                <a:solidFill>
                  <a:srgbClr val="1C1D22"/>
                </a:solidFill>
                <a:latin typeface="Montserrat"/>
              </a:rPr>
              <a:t>.</a:t>
            </a:r>
          </a:p>
          <a:p>
            <a:pPr algn="l">
              <a:lnSpc>
                <a:spcPct val="100000"/>
              </a:lnSpc>
              <a:defRPr/>
            </a:pPr>
            <a:r>
              <a:rPr lang="ru-RU" sz="1800" dirty="0">
                <a:solidFill>
                  <a:srgbClr val="1C1D22"/>
                </a:solidFill>
                <a:latin typeface="Montserrat"/>
              </a:rPr>
              <a:t>То же через POST /v1/</a:t>
            </a:r>
            <a:r>
              <a:rPr lang="ru-RU" sz="1800" dirty="0" err="1">
                <a:solidFill>
                  <a:srgbClr val="1C1D22"/>
                </a:solidFill>
                <a:latin typeface="Montserrat"/>
              </a:rPr>
              <a:t>batch</a:t>
            </a:r>
            <a:r>
              <a:rPr lang="ru-RU" sz="1800" dirty="0">
                <a:solidFill>
                  <a:srgbClr val="1C1D22"/>
                </a:solidFill>
                <a:latin typeface="Montserrat"/>
              </a:rPr>
              <a:t> и страницу «Пакетная проверка».</a:t>
            </a:r>
          </a:p>
          <a:p>
            <a:pPr algn="l">
              <a:lnSpc>
                <a:spcPct val="100000"/>
              </a:lnSpc>
              <a:defRPr/>
            </a:pPr>
            <a:r>
              <a:rPr lang="ru-RU" sz="1800" dirty="0">
                <a:solidFill>
                  <a:srgbClr val="1C1D22"/>
                </a:solidFill>
                <a:latin typeface="Montserrat"/>
              </a:rPr>
              <a:t>На выходе: </a:t>
            </a:r>
            <a:r>
              <a:rPr lang="ru-RU" sz="1800" dirty="0" err="1">
                <a:solidFill>
                  <a:srgbClr val="1C1D22"/>
                </a:solidFill>
                <a:latin typeface="Montserrat"/>
              </a:rPr>
              <a:t>results.csv</a:t>
            </a:r>
            <a:r>
              <a:rPr lang="ru-RU" sz="1800" dirty="0">
                <a:solidFill>
                  <a:srgbClr val="1C1D22"/>
                </a:solidFill>
                <a:latin typeface="Montserrat"/>
              </a:rPr>
              <a:t>, </a:t>
            </a:r>
            <a:r>
              <a:rPr lang="ru-RU" sz="1800" dirty="0" err="1">
                <a:solidFill>
                  <a:srgbClr val="1C1D22"/>
                </a:solidFill>
                <a:latin typeface="Montserrat"/>
              </a:rPr>
              <a:t>results.xlsx</a:t>
            </a:r>
            <a:r>
              <a:rPr lang="ru-RU" sz="1800" dirty="0">
                <a:solidFill>
                  <a:srgbClr val="1C1D22"/>
                </a:solidFill>
                <a:latin typeface="Montserrat"/>
              </a:rPr>
              <a:t> и </a:t>
            </a:r>
            <a:r>
              <a:rPr lang="ru-RU" sz="1800" dirty="0" err="1">
                <a:solidFill>
                  <a:srgbClr val="1C1D22"/>
                </a:solidFill>
                <a:latin typeface="Montserrat"/>
              </a:rPr>
              <a:t>series.zip</a:t>
            </a:r>
            <a:r>
              <a:rPr lang="ru-RU" sz="1800" dirty="0">
                <a:solidFill>
                  <a:srgbClr val="1C1D22"/>
                </a:solidFill>
                <a:latin typeface="Montserrat"/>
              </a:rPr>
              <a:t> — DICOM </a:t>
            </a:r>
            <a:r>
              <a:rPr lang="ru-RU" sz="1800" dirty="0" err="1">
                <a:solidFill>
                  <a:srgbClr val="1C1D22"/>
                </a:solidFill>
                <a:latin typeface="Montserrat"/>
              </a:rPr>
              <a:t>Secondary</a:t>
            </a:r>
            <a:r>
              <a:rPr lang="ru-RU" sz="1800" dirty="0">
                <a:solidFill>
                  <a:srgbClr val="1C1D22"/>
                </a:solidFill>
                <a:latin typeface="Montserrat"/>
              </a:rPr>
              <a:t> </a:t>
            </a:r>
            <a:r>
              <a:rPr lang="ru-RU" sz="1800" dirty="0" err="1">
                <a:solidFill>
                  <a:srgbClr val="1C1D22"/>
                </a:solidFill>
                <a:latin typeface="Montserrat"/>
              </a:rPr>
              <a:t>Capture</a:t>
            </a:r>
            <a:r>
              <a:rPr lang="ru-RU" sz="1800" dirty="0">
                <a:solidFill>
                  <a:srgbClr val="1C1D22"/>
                </a:solidFill>
                <a:latin typeface="Montserrat"/>
              </a:rPr>
              <a:t> с визуализацией нарушений.</a:t>
            </a:r>
          </a:p>
        </p:txBody>
      </p:sp>
      <p:sp>
        <p:nvSpPr>
          <p:cNvPr id="694715632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7087130" y="1588804"/>
            <a:ext cx="3630176" cy="28659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200" b="1" dirty="0" err="1">
                <a:solidFill>
                  <a:srgbClr val="1C1D22"/>
                </a:solidFill>
                <a:latin typeface="Montserrat"/>
              </a:rPr>
              <a:t>path_to_study</a:t>
            </a:r>
            <a:r>
              <a:rPr lang="ru-RU" sz="1200" b="1" dirty="0">
                <a:solidFill>
                  <a:srgbClr val="1C1D22"/>
                </a:solidFill>
                <a:latin typeface="Montserrat"/>
              </a:rPr>
              <a:t>, </a:t>
            </a:r>
            <a:r>
              <a:rPr lang="ru-RU" sz="1200" b="1" dirty="0" err="1">
                <a:solidFill>
                  <a:srgbClr val="1C1D22"/>
                </a:solidFill>
                <a:latin typeface="Montserrat"/>
              </a:rPr>
              <a:t>study_uid</a:t>
            </a:r>
            <a:r>
              <a:rPr lang="ru-RU" sz="1200" b="1" dirty="0">
                <a:solidFill>
                  <a:srgbClr val="1C1D22"/>
                </a:solidFill>
                <a:latin typeface="Montserrat"/>
              </a:rPr>
              <a:t>, </a:t>
            </a:r>
            <a:r>
              <a:rPr lang="ru-RU" sz="1200" b="1" dirty="0" err="1">
                <a:solidFill>
                  <a:srgbClr val="1C1D22"/>
                </a:solidFill>
                <a:latin typeface="Montserrat"/>
              </a:rPr>
              <a:t>image_uid</a:t>
            </a:r>
            <a:r>
              <a:rPr lang="ru-RU" sz="1200" b="1" dirty="0">
                <a:solidFill>
                  <a:srgbClr val="1C1D22"/>
                </a:solidFill>
                <a:latin typeface="Montserrat"/>
              </a:rPr>
              <a:t>  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откуда снимок</a:t>
            </a:r>
          </a:p>
        </p:txBody>
      </p:sp>
      <p:sp>
        <p:nvSpPr>
          <p:cNvPr id="1226932975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7362795" y="2645789"/>
            <a:ext cx="3078846" cy="254278"/>
          </a:xfrm>
          <a:prstGeom prst="rect">
            <a:avLst/>
          </a:prstGeom>
          <a:noFill/>
          <a:ln>
            <a:noFill/>
          </a:ln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sz="1200" b="1" dirty="0" err="1">
                <a:solidFill>
                  <a:srgbClr val="1C1D22"/>
                </a:solidFill>
                <a:latin typeface="Montserrat"/>
              </a:rPr>
              <a:t>anatomical_region</a:t>
            </a:r>
            <a:r>
              <a:rPr lang="ru-RU" sz="1200" b="1" dirty="0">
                <a:solidFill>
                  <a:srgbClr val="1C1D22"/>
                </a:solidFill>
                <a:latin typeface="Montserrat"/>
              </a:rPr>
              <a:t>  </a:t>
            </a:r>
            <a:r>
              <a:rPr lang="ru-RU" sz="1200" b="0" dirty="0" err="1">
                <a:solidFill>
                  <a:srgbClr val="1C1D22"/>
                </a:solidFill>
                <a:latin typeface="Montserrat"/>
              </a:rPr>
              <a:t>spine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 / </a:t>
            </a:r>
            <a:r>
              <a:rPr lang="ru-RU" sz="1200" b="0" dirty="0" err="1">
                <a:solidFill>
                  <a:srgbClr val="1C1D22"/>
                </a:solidFill>
                <a:latin typeface="Montserrat"/>
              </a:rPr>
              <a:t>right_hip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 / </a:t>
            </a:r>
            <a:r>
              <a:rPr lang="ru-RU" sz="1200" b="0" dirty="0" err="1">
                <a:solidFill>
                  <a:srgbClr val="1C1D22"/>
                </a:solidFill>
                <a:latin typeface="Montserrat"/>
              </a:rPr>
              <a:t>left_hip</a:t>
            </a:r>
            <a:endParaRPr lang="ru-RU" sz="120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957190871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7087130" y="3660734"/>
            <a:ext cx="3710858" cy="29270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200" b="1" dirty="0" err="1">
                <a:solidFill>
                  <a:srgbClr val="1C1D22"/>
                </a:solidFill>
                <a:latin typeface="Montserrat"/>
              </a:rPr>
              <a:t>quality_class</a:t>
            </a:r>
            <a:r>
              <a:rPr lang="ru-RU" sz="1200" b="1" dirty="0">
                <a:solidFill>
                  <a:srgbClr val="1C1D22"/>
                </a:solidFill>
                <a:latin typeface="Montserrat"/>
              </a:rPr>
              <a:t>  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0 — качественное, 1 — есть нарушение</a:t>
            </a:r>
          </a:p>
        </p:txBody>
      </p:sp>
      <p:sp>
        <p:nvSpPr>
          <p:cNvPr id="1863829381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7430728" y="4644510"/>
            <a:ext cx="2957823" cy="290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200" b="1" dirty="0" err="1">
                <a:solidFill>
                  <a:srgbClr val="1C1D22"/>
                </a:solidFill>
                <a:latin typeface="Montserrat"/>
              </a:rPr>
              <a:t>violation_type</a:t>
            </a:r>
            <a:r>
              <a:rPr lang="ru-RU" sz="1200" b="1" dirty="0">
                <a:solidFill>
                  <a:srgbClr val="1C1D22"/>
                </a:solidFill>
                <a:latin typeface="Montserrat"/>
              </a:rPr>
              <a:t>  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коды нарушений через «;»</a:t>
            </a:r>
          </a:p>
        </p:txBody>
      </p:sp>
      <p:sp>
        <p:nvSpPr>
          <p:cNvPr id="834067675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710613" y="5694167"/>
            <a:ext cx="4383211" cy="3544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200" b="1" dirty="0" err="1">
                <a:solidFill>
                  <a:srgbClr val="1C1D22"/>
                </a:solidFill>
                <a:latin typeface="Montserrat"/>
              </a:rPr>
              <a:t>processing_status</a:t>
            </a:r>
            <a:r>
              <a:rPr lang="ru-RU" sz="1200" b="1" dirty="0">
                <a:solidFill>
                  <a:srgbClr val="1C1D22"/>
                </a:solidFill>
                <a:latin typeface="Montserrat"/>
              </a:rPr>
              <a:t>, </a:t>
            </a:r>
            <a:r>
              <a:rPr lang="ru-RU" sz="1200" b="1" dirty="0" err="1">
                <a:solidFill>
                  <a:srgbClr val="1C1D22"/>
                </a:solidFill>
                <a:latin typeface="Montserrat"/>
              </a:rPr>
              <a:t>time_of_processing</a:t>
            </a:r>
            <a:r>
              <a:rPr lang="ru-RU" sz="1200" b="1" dirty="0">
                <a:solidFill>
                  <a:srgbClr val="1C1D22"/>
                </a:solidFill>
                <a:latin typeface="Montserrat"/>
              </a:rPr>
              <a:t>  </a:t>
            </a:r>
            <a:r>
              <a:rPr lang="ru-RU" sz="1200" b="0" dirty="0" err="1">
                <a:solidFill>
                  <a:srgbClr val="1C1D22"/>
                </a:solidFill>
                <a:latin typeface="Montserrat"/>
              </a:rPr>
              <a:t>Success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/</a:t>
            </a:r>
            <a:r>
              <a:rPr lang="ru-RU" sz="1200" b="0" dirty="0" err="1">
                <a:solidFill>
                  <a:srgbClr val="1C1D22"/>
                </a:solidFill>
                <a:latin typeface="Montserrat"/>
              </a:rPr>
              <a:t>Failure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, секунды</a:t>
            </a:r>
          </a:p>
        </p:txBody>
      </p:sp>
      <p:sp>
        <p:nvSpPr>
          <p:cNvPr id="1020154764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8072660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ПАКЕТНАЯ ОБРАБОТКА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2835" name="Скругленный прямоугольник 9"/>
          <p:cNvSpPr/>
          <p:nvPr/>
        </p:nvSpPr>
        <p:spPr bwMode="auto">
          <a:xfrm>
            <a:off x="346075" y="324562"/>
            <a:ext cx="231644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9754453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0861248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3874592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33497077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5532861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96702583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Montserrat"/>
              </a:rPr>
              <a:t>Лаборант</a:t>
            </a:r>
          </a:p>
        </p:txBody>
      </p:sp>
      <p:sp>
        <p:nvSpPr>
          <p:cNvPr id="138619797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Загружает исследование у аппарата, сразу видит нарушение и подсказку. Видит только свои исследования.</a:t>
            </a:r>
          </a:p>
        </p:txBody>
      </p:sp>
      <p:sp>
        <p:nvSpPr>
          <p:cNvPr id="144489593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Montserrat"/>
              </a:rPr>
              <a:t>Врач</a:t>
            </a:r>
          </a:p>
        </p:txBody>
      </p:sp>
      <p:sp>
        <p:nvSpPr>
          <p:cNvPr id="214318722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Очередь сомнительных случаев и итоговое заключение. Согласие врача с системой — мера доверия к модели.</a:t>
            </a:r>
          </a:p>
        </p:txBody>
      </p:sp>
      <p:sp>
        <p:nvSpPr>
          <p:cNvPr id="1204859240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Montserrat"/>
              </a:rPr>
              <a:t>Заведующий</a:t>
            </a:r>
          </a:p>
        </p:txBody>
      </p:sp>
      <p:sp>
        <p:nvSpPr>
          <p:cNvPr id="581874941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Сводка качества отделения, лаборанты, которым нужен разбор укладки, управление сотрудниками.</a:t>
            </a:r>
          </a:p>
        </p:txBody>
      </p:sp>
      <p:sp>
        <p:nvSpPr>
          <p:cNvPr id="1782957241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520978"/>
                </a:solidFill>
                <a:latin typeface="Montserrat"/>
              </a:rPr>
              <a:t>Госуслуги</a:t>
            </a:r>
          </a:p>
        </p:txBody>
      </p:sp>
      <p:sp>
        <p:nvSpPr>
          <p:cNvPr id="711149997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Вход через ЕСИА по СНИЛС (</a:t>
            </a:r>
            <a:r>
              <a:rPr lang="ru-RU" sz="1600" dirty="0" err="1">
                <a:solidFill>
                  <a:srgbClr val="1C1D22"/>
                </a:solidFill>
                <a:latin typeface="Montserrat"/>
              </a:rPr>
              <a:t>OAuth</a:t>
            </a:r>
            <a:r>
              <a:rPr lang="ru-RU" sz="1600" dirty="0">
                <a:solidFill>
                  <a:srgbClr val="1C1D22"/>
                </a:solidFill>
                <a:latin typeface="Montserrat"/>
              </a:rPr>
              <a:t> 2.0, защита </a:t>
            </a:r>
            <a:r>
              <a:rPr lang="ru-RU" sz="1600" dirty="0" err="1">
                <a:solidFill>
                  <a:srgbClr val="1C1D22"/>
                </a:solidFill>
                <a:latin typeface="Montserrat"/>
              </a:rPr>
              <a:t>state</a:t>
            </a:r>
            <a:r>
              <a:rPr lang="ru-RU" sz="1600" dirty="0">
                <a:solidFill>
                  <a:srgbClr val="1C1D22"/>
                </a:solidFill>
                <a:latin typeface="Montserrat"/>
              </a:rPr>
              <a:t>). Тестовый контур готов, боевой — после регистрации ИС.</a:t>
            </a:r>
          </a:p>
        </p:txBody>
      </p:sp>
      <p:sp>
        <p:nvSpPr>
          <p:cNvPr id="6219396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РОЛИ И ДОСТУП</a:t>
            </a:r>
          </a:p>
        </p:txBody>
      </p:sp>
      <p:sp>
        <p:nvSpPr>
          <p:cNvPr id="124319577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1119025481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158756031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1591282118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12559" name="Скругленный прямоугольник 11"/>
          <p:cNvSpPr/>
          <p:nvPr/>
        </p:nvSpPr>
        <p:spPr bwMode="auto">
          <a:xfrm>
            <a:off x="346075" y="324562"/>
            <a:ext cx="3230843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22206695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2720115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800" dirty="0">
                <a:solidFill>
                  <a:srgbClr val="FF0053"/>
                </a:solidFill>
                <a:latin typeface="Montserrat"/>
              </a:rPr>
              <a:t>Пилот</a:t>
            </a:r>
          </a:p>
        </p:txBody>
      </p:sp>
      <p:sp>
        <p:nvSpPr>
          <p:cNvPr id="2052221409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rgbClr val="1C1D22"/>
                </a:solidFill>
                <a:latin typeface="Montserrat"/>
              </a:rPr>
              <a:t>одно отделение, 2–3 месяца, контроль качества в реальном потоке</a:t>
            </a:r>
          </a:p>
        </p:txBody>
      </p:sp>
      <p:sp>
        <p:nvSpPr>
          <p:cNvPr id="1204058611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800" dirty="0">
                <a:solidFill>
                  <a:srgbClr val="FF0053"/>
                </a:solidFill>
                <a:latin typeface="Montserrat"/>
              </a:rPr>
              <a:t>Сегментация</a:t>
            </a:r>
          </a:p>
        </p:txBody>
      </p:sp>
      <p:sp>
        <p:nvSpPr>
          <p:cNvPr id="1141059278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rgbClr val="1C1D22"/>
                </a:solidFill>
                <a:latin typeface="Montserrat"/>
              </a:rPr>
              <a:t>позвонки и бедро: точная ось и ROI по ключевым точкам</a:t>
            </a:r>
          </a:p>
        </p:txBody>
      </p:sp>
      <p:sp>
        <p:nvSpPr>
          <p:cNvPr id="231324960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800" dirty="0">
                <a:solidFill>
                  <a:srgbClr val="FF0053"/>
                </a:solidFill>
                <a:latin typeface="Montserrat"/>
              </a:rPr>
              <a:t>Масштаб</a:t>
            </a:r>
          </a:p>
        </p:txBody>
      </p:sp>
      <p:sp>
        <p:nvSpPr>
          <p:cNvPr id="211627342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rgbClr val="1C1D22"/>
                </a:solidFill>
                <a:latin typeface="Montserrat"/>
              </a:rPr>
              <a:t>другие аппараты и отделения, сравнение качества между ними</a:t>
            </a:r>
          </a:p>
        </p:txBody>
      </p:sp>
      <p:sp>
        <p:nvSpPr>
          <p:cNvPr id="1149809695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85518" y="492238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800" dirty="0">
                <a:solidFill>
                  <a:srgbClr val="FF0053"/>
                </a:solidFill>
                <a:latin typeface="Montserrat"/>
              </a:rPr>
              <a:t>Дообучение</a:t>
            </a:r>
            <a:endParaRPr lang="ru-RU" dirty="0">
              <a:solidFill>
                <a:srgbClr val="FF0053"/>
              </a:solidFill>
              <a:latin typeface="Montserrat"/>
            </a:endParaRPr>
          </a:p>
        </p:txBody>
      </p:sp>
      <p:sp>
        <p:nvSpPr>
          <p:cNvPr id="1281454000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85519" y="5262961"/>
            <a:ext cx="2526079" cy="112068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rgbClr val="1C1D22"/>
                </a:solidFill>
                <a:latin typeface="Montserrat"/>
              </a:rPr>
              <a:t>на заключениях врачей, собранных через очередь</a:t>
            </a:r>
          </a:p>
        </p:txBody>
      </p:sp>
      <p:sp>
        <p:nvSpPr>
          <p:cNvPr id="2086022967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922389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800" dirty="0">
                <a:solidFill>
                  <a:srgbClr val="FF0053"/>
                </a:solidFill>
                <a:latin typeface="Montserrat"/>
              </a:rPr>
              <a:t>Интеграция</a:t>
            </a:r>
          </a:p>
        </p:txBody>
      </p:sp>
      <p:sp>
        <p:nvSpPr>
          <p:cNvPr id="958422470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303634"/>
            <a:ext cx="2526079" cy="112068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rgbClr val="1C1D22"/>
                </a:solidFill>
                <a:latin typeface="Montserrat"/>
              </a:rPr>
              <a:t>PACS, DICOM SR, ЕМИАС, боевая ЕСИА</a:t>
            </a:r>
          </a:p>
        </p:txBody>
      </p:sp>
      <p:cxnSp>
        <p:nvCxnSpPr>
          <p:cNvPr id="2077121484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871006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1563185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557572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8004331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268142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388706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298193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399301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2757955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latin typeface="Montserrat"/>
              </a:rPr>
              <a:t>1</a:t>
            </a:r>
            <a:endParaRPr/>
          </a:p>
        </p:txBody>
      </p:sp>
      <p:sp>
        <p:nvSpPr>
          <p:cNvPr id="1893552170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latin typeface="Montserrat"/>
              </a:rPr>
              <a:t>2</a:t>
            </a:r>
            <a:endParaRPr/>
          </a:p>
        </p:txBody>
      </p:sp>
      <p:sp>
        <p:nvSpPr>
          <p:cNvPr id="318648775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latin typeface="Montserrat"/>
              </a:rPr>
              <a:t>3</a:t>
            </a:r>
            <a:endParaRPr/>
          </a:p>
        </p:txBody>
      </p:sp>
      <p:sp>
        <p:nvSpPr>
          <p:cNvPr id="1561471176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latin typeface="Montserrat"/>
              </a:rPr>
              <a:t>4</a:t>
            </a:r>
            <a:endParaRPr/>
          </a:p>
        </p:txBody>
      </p:sp>
      <p:sp>
        <p:nvSpPr>
          <p:cNvPr id="359935978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latin typeface="Montserrat"/>
              </a:rPr>
              <a:t>5</a:t>
            </a:r>
            <a:endParaRPr/>
          </a:p>
        </p:txBody>
      </p:sp>
      <p:sp>
        <p:nvSpPr>
          <p:cNvPr id="167796278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ВНЕДРЕНИЕ И РАЗВИТИЕ</a:t>
            </a:r>
          </a:p>
        </p:txBody>
      </p:sp>
      <p:sp>
        <p:nvSpPr>
          <p:cNvPr id="1043008459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36704765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953907698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124485650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991086924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415542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74921309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371515609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520978"/>
                </a:solidFill>
                <a:latin typeface="Montserrat"/>
              </a:rPr>
              <a:t>СПАСИБО ЗА ВНИМАНИЕ!</a:t>
            </a:r>
          </a:p>
        </p:txBody>
      </p:sp>
      <p:sp>
        <p:nvSpPr>
          <p:cNvPr id="878865563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 b="1" dirty="0" err="1">
                <a:solidFill>
                  <a:srgbClr val="1C1D22"/>
                </a:solidFill>
                <a:latin typeface="Montserrat"/>
              </a:rPr>
              <a:t>Остеоконтроль</a:t>
            </a:r>
            <a:endParaRPr lang="ru-RU" sz="1600" b="1" dirty="0">
              <a:solidFill>
                <a:srgbClr val="1C1D22"/>
              </a:solidFill>
              <a:latin typeface="Montserrat"/>
            </a:endParaRPr>
          </a:p>
          <a:p>
            <a:pPr marL="0" indent="0"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Контроль качества денситометрии в момент сканирования</a:t>
            </a:r>
          </a:p>
          <a:p>
            <a:pPr marL="0" indent="0">
              <a:buNone/>
              <a:defRPr/>
            </a:pPr>
            <a:endParaRPr lang="ru-RU" sz="1600" dirty="0">
              <a:solidFill>
                <a:srgbClr val="1C1D22"/>
              </a:solidFill>
            </a:endParaRPr>
          </a:p>
          <a:p>
            <a:pPr marL="0" indent="0">
              <a:buNone/>
              <a:defRPr/>
            </a:pPr>
            <a:r>
              <a:rPr lang="ru-RU" sz="1600" b="1" dirty="0">
                <a:solidFill>
                  <a:srgbClr val="1C1D22"/>
                </a:solidFill>
                <a:latin typeface="Montserrat"/>
              </a:rPr>
              <a:t>Репозиторий: </a:t>
            </a:r>
            <a:r>
              <a:rPr lang="en" sz="1600" dirty="0">
                <a:solidFill>
                  <a:srgbClr val="1C1D22"/>
                </a:solidFill>
                <a:latin typeface="Montserrat"/>
              </a:rPr>
              <a:t>https://</a:t>
            </a:r>
            <a:r>
              <a:rPr lang="en" sz="1600" dirty="0" err="1">
                <a:solidFill>
                  <a:srgbClr val="1C1D22"/>
                </a:solidFill>
                <a:latin typeface="Montserrat"/>
              </a:rPr>
              <a:t>github.com</a:t>
            </a:r>
            <a:r>
              <a:rPr lang="en" sz="1600" dirty="0">
                <a:solidFill>
                  <a:srgbClr val="1C1D22"/>
                </a:solidFill>
                <a:latin typeface="Montserrat"/>
              </a:rPr>
              <a:t>/sanyochek58/QA-DXA-Platform</a:t>
            </a:r>
            <a:endParaRPr lang="en-US" sz="1600" dirty="0">
              <a:solidFill>
                <a:srgbClr val="1C1D22"/>
              </a:solidFill>
              <a:latin typeface="Montserrat"/>
            </a:endParaRPr>
          </a:p>
          <a:p>
            <a:pPr marL="0" indent="0">
              <a:buNone/>
              <a:defRPr/>
            </a:pPr>
            <a:r>
              <a:rPr lang="ru-RU" sz="1600" b="1" dirty="0">
                <a:solidFill>
                  <a:srgbClr val="1C1D22"/>
                </a:solidFill>
                <a:latin typeface="Montserrat"/>
              </a:rPr>
              <a:t>Контакты: </a:t>
            </a:r>
            <a:r>
              <a:rPr lang="en-US" sz="1600" b="0" dirty="0" err="1">
                <a:solidFill>
                  <a:srgbClr val="1C1D22"/>
                </a:solidFill>
                <a:latin typeface="Montserrat"/>
              </a:rPr>
              <a:t>t.me</a:t>
            </a:r>
            <a:r>
              <a:rPr lang="en-US" sz="1600" b="0" dirty="0">
                <a:solidFill>
                  <a:srgbClr val="1C1D22"/>
                </a:solidFill>
                <a:latin typeface="Montserrat"/>
              </a:rPr>
              <a:t>/</a:t>
            </a:r>
            <a:r>
              <a:rPr lang="en-US" sz="1600" b="0" dirty="0" err="1">
                <a:solidFill>
                  <a:srgbClr val="1C1D22"/>
                </a:solidFill>
                <a:latin typeface="Montserrat"/>
              </a:rPr>
              <a:t>NorthernGxner</a:t>
            </a:r>
            <a:endParaRPr lang="ru-RU" sz="1600" b="0" dirty="0">
              <a:solidFill>
                <a:srgbClr val="1C1D22"/>
              </a:solidFill>
              <a:latin typeface="Montserrat"/>
            </a:endParaRPr>
          </a:p>
          <a:p>
            <a:pPr marL="0" indent="0">
              <a:buNone/>
              <a:defRPr/>
            </a:pPr>
            <a:endParaRPr lang="ru-RU" sz="1600" b="0" dirty="0">
              <a:solidFill>
                <a:srgbClr val="1C1D22"/>
              </a:solidFill>
            </a:endParaRPr>
          </a:p>
          <a:p>
            <a:pPr marL="0" indent="0"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Запуск: ./</a:t>
            </a:r>
            <a:r>
              <a:rPr lang="ru-RU" sz="1600" dirty="0" err="1">
                <a:solidFill>
                  <a:srgbClr val="1C1D22"/>
                </a:solidFill>
                <a:latin typeface="Montserrat"/>
              </a:rPr>
              <a:t>run.sh</a:t>
            </a:r>
            <a:r>
              <a:rPr lang="ru-RU" sz="1600" dirty="0">
                <a:solidFill>
                  <a:srgbClr val="1C1D22"/>
                </a:solidFill>
                <a:latin typeface="Montserrat"/>
              </a:rPr>
              <a:t> — веб-интерфейс на localhost:3000</a:t>
            </a:r>
          </a:p>
          <a:p>
            <a:pPr marL="0" indent="0">
              <a:buNone/>
              <a:defRPr/>
            </a:pPr>
            <a:r>
              <a:rPr lang="ru-RU" sz="1600" dirty="0">
                <a:solidFill>
                  <a:srgbClr val="1C1D22"/>
                </a:solidFill>
                <a:latin typeface="Montserrat"/>
              </a:rPr>
              <a:t>Проверка набора: ./</a:t>
            </a:r>
            <a:r>
              <a:rPr lang="ru-RU" sz="1600" dirty="0" err="1">
                <a:solidFill>
                  <a:srgbClr val="1C1D22"/>
                </a:solidFill>
                <a:latin typeface="Montserrat"/>
              </a:rPr>
              <a:t>run_batch.sh</a:t>
            </a:r>
            <a:r>
              <a:rPr lang="ru-RU" sz="1600" dirty="0">
                <a:solidFill>
                  <a:srgbClr val="1C1D22"/>
                </a:solidFill>
                <a:latin typeface="Montserrat"/>
              </a:rPr>
              <a:t> </a:t>
            </a:r>
            <a:r>
              <a:rPr lang="ru-RU" sz="1600" dirty="0" err="1">
                <a:solidFill>
                  <a:srgbClr val="1C1D22"/>
                </a:solidFill>
                <a:latin typeface="Montserrat"/>
              </a:rPr>
              <a:t>архив.zip</a:t>
            </a:r>
            <a:endParaRPr lang="ru-RU" sz="1600" dirty="0">
              <a:solidFill>
                <a:srgbClr val="1C1D22"/>
              </a:solidFill>
              <a:latin typeface="Montserrat"/>
            </a:endParaRPr>
          </a:p>
        </p:txBody>
      </p:sp>
      <p:pic>
        <p:nvPicPr>
          <p:cNvPr id="1371515610" name="Picture 1371515609" descr="p_artifact.png"/>
          <p:cNvPicPr>
            <a:picLocks noChangeAspect="1"/>
          </p:cNvPicPr>
          <p:nvPr/>
        </p:nvPicPr>
        <p:blipFill>
          <a:blip r:embed="rId4"/>
          <a:srcRect l="3037" r="3037"/>
          <a:stretch>
            <a:fillRect/>
          </a:stretch>
        </p:blipFill>
        <p:spPr>
          <a:xfrm>
            <a:off x="6096001" y="0"/>
            <a:ext cx="6096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2172</Words>
  <Application>Microsoft Macintosh PowerPoint</Application>
  <PresentationFormat>Широкоэкранный</PresentationFormat>
  <Paragraphs>324</Paragraphs>
  <Slides>23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Arial</vt:lpstr>
      <vt:lpstr>Calibri</vt:lpstr>
      <vt:lpstr>Lato Light</vt:lpstr>
      <vt:lpstr>Montserrat</vt:lpstr>
      <vt:lpstr>Poppins Light</vt:lpstr>
      <vt:lpstr>Wingdings</vt:lpstr>
      <vt:lpstr>Для Академия инноваторов 16_9</vt:lpstr>
      <vt:lpstr>ЗАМЕРЩИКИ ДВЕРЕЙ</vt:lpstr>
      <vt:lpstr>КОМАНДА «Замерщики дверей»</vt:lpstr>
      <vt:lpstr>КОМАНДА «Замерщики дверей»</vt:lpstr>
      <vt:lpstr>КОМАНДА «Замерщики дверей»</vt:lpstr>
      <vt:lpstr>КОРОТКО О РЕШЕНИИ</vt:lpstr>
      <vt:lpstr>ПРОБЛЕМА И ПОДХОД</vt:lpstr>
      <vt:lpstr>КАК ЭТО РАБОТАЕТ</vt:lpstr>
      <vt:lpstr>АРХИТЕКТУРА</vt:lpstr>
      <vt:lpstr>ДАННЫЕ И РАЗБИЕНИЕ ВЫБОРКИ</vt:lpstr>
      <vt:lpstr>ПРЕДОБРАБОТКА И ПРИЗНАКИ</vt:lpstr>
      <vt:lpstr>ТАКСОНОМИЯ НАРУШЕНИЙ</vt:lpstr>
      <vt:lpstr>КАК ПРИНИМАЕТСЯ РЕШЕНИЕ</vt:lpstr>
      <vt:lpstr>ИТОГ ПО ИССЛЕДОВАНИЮ</vt:lpstr>
      <vt:lpstr>РЕЗУЛЬТАТЫ ПО ПРОВЕРКАМ</vt:lpstr>
      <vt:lpstr>МЕТРИКИ С 95% ДИ</vt:lpstr>
      <vt:lpstr>АНАЛИЗ ОШИБОК И ОГРАНИЧЕНИЯ</vt:lpstr>
      <vt:lpstr>СКОРОСТЬ И ТРЕБОВАНИЯ</vt:lpstr>
      <vt:lpstr>ДЕМОНСТРАЦИЯ</vt:lpstr>
      <vt:lpstr>АДАПТАЦИЯ ДЛЯ МОБИЛЬНЫХ СРЕДСТВ</vt:lpstr>
      <vt:lpstr>ПАКЕТНАЯ ОБРАБОТКА</vt:lpstr>
      <vt:lpstr>РОЛИ И ДОСТУП</vt:lpstr>
      <vt:lpstr>ВНЕДРЕНИЕ И РАЗВИТИЕ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 Даша</cp:lastModifiedBy>
  <cp:revision>98</cp:revision>
  <dcterms:created xsi:type="dcterms:W3CDTF">2023-05-15T07:36:23Z</dcterms:created>
  <dcterms:modified xsi:type="dcterms:W3CDTF">2026-09-29T15:27:48Z</dcterms:modified>
</cp:coreProperties>
</file>